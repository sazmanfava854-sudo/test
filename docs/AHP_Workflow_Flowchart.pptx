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فرآیند محاسبه وزن معیارها با روش AHP (چند خبره)</a:t>
            </a:r>
          </a:p>
        </p:txBody>
      </p:sp>
      <p:pic>
        <p:nvPicPr>
          <p:cNvPr id="3" name="Picture 2" descr="AHP_Workflow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11795760" cy="44234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143C8C"/>
                </a:solidFill>
              </a:defRPr>
            </a:pPr>
            <a:r>
              <a:t>شرح مراحل فلوچارت AHP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  <a:defRPr sz="1800">
                <a:solidFill>
                  <a:srgbClr val="283246"/>
                </a:solidFill>
              </a:defRPr>
            </a:pPr>
            <a:r>
              <a:t>مرحله ۱ — گردآوری نظرات خبرگان: جمع‌آوری ماتریس‌های مقایسه زوجی از خبرگان</a:t>
            </a:r>
          </a:p>
          <a:p>
            <a:pPr algn="r">
              <a:spcAft>
                <a:spcPts val="1000"/>
              </a:spcAft>
              <a:defRPr sz="1800">
                <a:solidFill>
                  <a:srgbClr val="283246"/>
                </a:solidFill>
              </a:defRPr>
            </a:pPr>
            <a:r>
              <a:t>مرحله ۲ — مقایسه‌های زوجی: انجام مقایسات زوجی با روش AHP</a:t>
            </a:r>
          </a:p>
          <a:p>
            <a:pPr algn="r">
              <a:spcAft>
                <a:spcPts val="1000"/>
              </a:spcAft>
              <a:defRPr sz="1800">
                <a:solidFill>
                  <a:srgbClr val="283246"/>
                </a:solidFill>
              </a:defRPr>
            </a:pPr>
            <a:r>
              <a:t>مرحله ۳ — بررسی سازگاری: محاسبه نسبت سازگاری (CR) برای هر خبره</a:t>
            </a:r>
          </a:p>
          <a:p>
            <a:pPr algn="r">
              <a:spcAft>
                <a:spcPts val="1000"/>
              </a:spcAft>
              <a:defRPr sz="1800" i="1">
                <a:solidFill>
                  <a:srgbClr val="B43C3C"/>
                </a:solidFill>
              </a:defRPr>
            </a:pPr>
            <a:r>
              <a:t>مرحله ۴ — حذف شده (پذیرش ماتریس‌ها بر اساس CR &lt; 0.1)</a:t>
            </a:r>
          </a:p>
          <a:p>
            <a:pPr algn="r">
              <a:spcAft>
                <a:spcPts val="1000"/>
              </a:spcAft>
              <a:defRPr sz="1800">
                <a:solidFill>
                  <a:srgbClr val="283246"/>
                </a:solidFill>
              </a:defRPr>
            </a:pPr>
            <a:r>
              <a:t>مرحله ۵ — میانگین هندسی: تجمیع نظرات خبرگان</a:t>
            </a:r>
          </a:p>
          <a:p>
            <a:pPr algn="r">
              <a:spcAft>
                <a:spcPts val="1000"/>
              </a:spcAft>
              <a:defRPr sz="1800">
                <a:solidFill>
                  <a:srgbClr val="283246"/>
                </a:solidFill>
              </a:defRPr>
            </a:pPr>
            <a:r>
              <a:t>مرحله ۶ — بررسی سازگاری ماتریس تجمیع‌شده: محاسبه CR ماتریس نهایی</a:t>
            </a:r>
          </a:p>
          <a:p>
            <a:pPr algn="r">
              <a:spcAft>
                <a:spcPts val="1000"/>
              </a:spcAft>
              <a:defRPr sz="1800">
                <a:solidFill>
                  <a:srgbClr val="283246"/>
                </a:solidFill>
              </a:defRPr>
            </a:pPr>
            <a:r>
              <a:t>مرحله ۷ — وزن نهایی معیارها: استخراج وزن‌ها از ماتریس تجمیع‌شده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3200" b="1">
                <a:solidFill>
                  <a:srgbClr val="143C8C"/>
                </a:solidFill>
              </a:defRPr>
            </a:pPr>
            <a:r>
              <a:t>مرحله ۱: گردآوری نظرات خبرگان</a:t>
            </a:r>
          </a:p>
          <a:p>
            <a:pPr algn="r">
              <a:spcBef>
                <a:spcPts val="1600"/>
              </a:spcBef>
              <a:defRPr sz="2200">
                <a:solidFill>
                  <a:srgbClr val="465064"/>
                </a:solidFill>
              </a:defRPr>
            </a:pPr>
            <a:r>
              <a:t>جمع‌آوری ماتریس‌های مقایسه زوجی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3200" b="1">
                <a:solidFill>
                  <a:srgbClr val="143C8C"/>
                </a:solidFill>
              </a:defRPr>
            </a:pPr>
            <a:r>
              <a:t>مرحله ۲: مقایسه‌های زوجی</a:t>
            </a:r>
          </a:p>
          <a:p>
            <a:pPr algn="r">
              <a:spcBef>
                <a:spcPts val="1600"/>
              </a:spcBef>
              <a:defRPr sz="2200">
                <a:solidFill>
                  <a:srgbClr val="465064"/>
                </a:solidFill>
              </a:defRPr>
            </a:pPr>
            <a:r>
              <a:t>با AHP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3200" b="1">
                <a:solidFill>
                  <a:srgbClr val="143C8C"/>
                </a:solidFill>
              </a:defRPr>
            </a:pPr>
            <a:r>
              <a:t>مرحله ۳: بررسی سازگاری</a:t>
            </a:r>
          </a:p>
          <a:p>
            <a:pPr algn="r">
              <a:spcBef>
                <a:spcPts val="1600"/>
              </a:spcBef>
              <a:defRPr sz="2200">
                <a:solidFill>
                  <a:srgbClr val="465064"/>
                </a:solidFill>
              </a:defRPr>
            </a:pPr>
            <a:r>
              <a:t>محاسبه CR برای هر خبره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3200" b="1">
                <a:solidFill>
                  <a:srgbClr val="143C8C"/>
                </a:solidFill>
              </a:defRPr>
            </a:pPr>
            <a:r>
              <a:t>مرحله ۵: میانگین هندسی</a:t>
            </a:r>
          </a:p>
          <a:p>
            <a:pPr algn="r">
              <a:spcBef>
                <a:spcPts val="1600"/>
              </a:spcBef>
              <a:defRPr sz="2200">
                <a:solidFill>
                  <a:srgbClr val="465064"/>
                </a:solidFill>
              </a:defRPr>
            </a:pPr>
            <a:r>
              <a:t>تجمیع نظرات خبرگان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3200" b="1">
                <a:solidFill>
                  <a:srgbClr val="143C8C"/>
                </a:solidFill>
              </a:defRPr>
            </a:pPr>
            <a:r>
              <a:t>مرحله ۶: بررسی سازگاری ماتریس تجمیع‌شده</a:t>
            </a:r>
          </a:p>
          <a:p>
            <a:pPr algn="r">
              <a:spcBef>
                <a:spcPts val="1600"/>
              </a:spcBef>
              <a:defRPr sz="2200">
                <a:solidFill>
                  <a:srgbClr val="465064"/>
                </a:solidFill>
              </a:defRPr>
            </a:pPr>
            <a:r>
              <a:t>محاسبه CR ماتریس نهایی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3200" b="1">
                <a:solidFill>
                  <a:srgbClr val="143C8C"/>
                </a:solidFill>
              </a:defRPr>
            </a:pPr>
            <a:r>
              <a:t>مرحله ۷: وزن نهایی معیارها</a:t>
            </a:r>
          </a:p>
          <a:p>
            <a:pPr algn="r">
              <a:spcBef>
                <a:spcPts val="1600"/>
              </a:spcBef>
              <a:defRPr sz="2200">
                <a:solidFill>
                  <a:srgbClr val="465064"/>
                </a:solidFill>
              </a:defRPr>
            </a:pPr>
            <a:r>
              <a:t>ماتریس تجمیع‌شده مبنای محاسبه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