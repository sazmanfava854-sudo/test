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81360" y="475488"/>
            <a:ext cx="64008" cy="5303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058400" cy="566928"/>
          </a:xfrm>
          <a:prstGeom prst="rect">
            <a:avLst/>
          </a:prstGeom>
          <a:noFill/>
        </p:spPr>
        <p:txBody>
          <a:bodyPr wrap="square" anchor="ctr" lIns="101600" rIns="101600">
            <a:spAutoFit/>
          </a:bodyPr>
          <a:lstStyle/>
          <a:p>
            <a:pPr algn="r"/>
            <a:r>
              <a:rPr sz="3000" b="1">
                <a:solidFill>
                  <a:srgbClr val="0F172A"/>
                </a:solidFill>
                <a:latin typeface="B Nazanin"/>
              </a:rPr>
              <a:t>فرایند انتخاب و رتبه‌بندی فناوری‌ها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32688"/>
            <a:ext cx="10058400" cy="320040"/>
          </a:xfrm>
          <a:prstGeom prst="rect">
            <a:avLst/>
          </a:prstGeom>
          <a:noFill/>
        </p:spPr>
        <p:txBody>
          <a:bodyPr wrap="square" anchor="ctr" lIns="101600" rIns="101600">
            <a:spAutoFit/>
          </a:bodyPr>
          <a:lstStyle/>
          <a:p>
            <a:pPr algn="r"/>
            <a:r>
              <a:rPr sz="1400" b="0">
                <a:solidFill>
                  <a:srgbClr val="64748B"/>
                </a:solidFill>
                <a:latin typeface="B Nazanin"/>
              </a:rPr>
              <a:t>چارچوب چهارمرحله‌ای مدل پیشنهادی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53312"/>
            <a:ext cx="10725912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710928" y="2779776"/>
            <a:ext cx="2057400" cy="1600200"/>
          </a:xfrm>
          <a:prstGeom prst="rect">
            <a:avLst/>
          </a:prstGeom>
          <a:solidFill>
            <a:srgbClr val="D1D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74352" y="2743200"/>
            <a:ext cx="2057400" cy="1600200"/>
          </a:xfrm>
          <a:prstGeom prst="rect">
            <a:avLst/>
          </a:prstGeom>
          <a:solidFill>
            <a:srgbClr val="2563EB"/>
          </a:solidFill>
          <a:ln w="9525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674352" y="2743200"/>
            <a:ext cx="2057400" cy="457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74352" y="3044952"/>
            <a:ext cx="2057400" cy="384048"/>
          </a:xfrm>
          <a:prstGeom prst="rect">
            <a:avLst/>
          </a:prstGeom>
          <a:noFill/>
        </p:spPr>
        <p:txBody>
          <a:bodyPr wrap="square" anchor="ctr" lIns="101600" rIns="10160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B Nazanin"/>
              </a:rPr>
              <a:t>خوشه‌بندی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74352" y="3447288"/>
            <a:ext cx="2057400" cy="502920"/>
          </a:xfrm>
          <a:prstGeom prst="rect">
            <a:avLst/>
          </a:prstGeom>
          <a:noFill/>
        </p:spPr>
        <p:txBody>
          <a:bodyPr wrap="square" anchor="ctr" lIns="101600" rIns="101600">
            <a:spAutoFit/>
          </a:bodyPr>
          <a:lstStyle/>
          <a:p>
            <a:pPr algn="ctr"/>
            <a:r>
              <a:rPr sz="1400" b="0">
                <a:solidFill>
                  <a:srgbClr val="DBEAFE"/>
                </a:solidFill>
                <a:latin typeface="B Nazanin"/>
              </a:rPr>
              <a:t>گروه‌بندی فناوری‌های مشابه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06056" y="2779776"/>
            <a:ext cx="2057400" cy="1600200"/>
          </a:xfrm>
          <a:prstGeom prst="rect">
            <a:avLst/>
          </a:prstGeom>
          <a:solidFill>
            <a:srgbClr val="D1D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69480" y="2743200"/>
            <a:ext cx="2057400" cy="1600200"/>
          </a:xfrm>
          <a:prstGeom prst="rect">
            <a:avLst/>
          </a:prstGeom>
          <a:solidFill>
            <a:srgbClr val="2563EB"/>
          </a:solidFill>
          <a:ln w="9525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269480" y="2743200"/>
            <a:ext cx="2057400" cy="457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9480" y="3044952"/>
            <a:ext cx="2057400" cy="384048"/>
          </a:xfrm>
          <a:prstGeom prst="rect">
            <a:avLst/>
          </a:prstGeom>
          <a:noFill/>
        </p:spPr>
        <p:txBody>
          <a:bodyPr wrap="square" anchor="ctr" lIns="101600" rIns="10160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Times New Roman"/>
              </a:rPr>
              <a:t>AHP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3447288"/>
            <a:ext cx="2057400" cy="502920"/>
          </a:xfrm>
          <a:prstGeom prst="rect">
            <a:avLst/>
          </a:prstGeom>
          <a:noFill/>
        </p:spPr>
        <p:txBody>
          <a:bodyPr wrap="square" anchor="ctr" lIns="101600" rIns="101600">
            <a:spAutoFit/>
          </a:bodyPr>
          <a:lstStyle/>
          <a:p>
            <a:pPr algn="ctr"/>
            <a:r>
              <a:rPr sz="1400" b="0">
                <a:solidFill>
                  <a:srgbClr val="DBEAFE"/>
                </a:solidFill>
                <a:latin typeface="B Nazanin"/>
              </a:rPr>
              <a:t>تعیین اهمیت نسبی معیارها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01184" y="2779776"/>
            <a:ext cx="2057400" cy="1600200"/>
          </a:xfrm>
          <a:prstGeom prst="rect">
            <a:avLst/>
          </a:prstGeom>
          <a:solidFill>
            <a:srgbClr val="D1D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64608" y="2743200"/>
            <a:ext cx="2057400" cy="1600200"/>
          </a:xfrm>
          <a:prstGeom prst="rect">
            <a:avLst/>
          </a:prstGeom>
          <a:solidFill>
            <a:srgbClr val="2563EB"/>
          </a:solidFill>
          <a:ln w="9525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64608" y="2743200"/>
            <a:ext cx="2057400" cy="457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64608" y="3044952"/>
            <a:ext cx="2057400" cy="384048"/>
          </a:xfrm>
          <a:prstGeom prst="rect">
            <a:avLst/>
          </a:prstGeom>
          <a:noFill/>
        </p:spPr>
        <p:txBody>
          <a:bodyPr wrap="square" anchor="ctr" lIns="101600" rIns="10160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B Nazanin"/>
              </a:rPr>
              <a:t>تعدیل پویا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3447288"/>
            <a:ext cx="2057400" cy="502920"/>
          </a:xfrm>
          <a:prstGeom prst="rect">
            <a:avLst/>
          </a:prstGeom>
          <a:noFill/>
        </p:spPr>
        <p:txBody>
          <a:bodyPr wrap="square" anchor="ctr" lIns="101600" rIns="101600">
            <a:spAutoFit/>
          </a:bodyPr>
          <a:lstStyle/>
          <a:p>
            <a:pPr algn="ctr"/>
            <a:r>
              <a:rPr sz="1400" b="0">
                <a:solidFill>
                  <a:srgbClr val="DBEAFE"/>
                </a:solidFill>
                <a:latin typeface="B Nazanin"/>
              </a:rPr>
              <a:t>تطبیق وزن‌ها با سناریوی پروژه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96312" y="2779776"/>
            <a:ext cx="2057400" cy="1600200"/>
          </a:xfrm>
          <a:prstGeom prst="rect">
            <a:avLst/>
          </a:prstGeom>
          <a:solidFill>
            <a:srgbClr val="D1D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459736" y="2743200"/>
            <a:ext cx="2057400" cy="1600200"/>
          </a:xfrm>
          <a:prstGeom prst="rect">
            <a:avLst/>
          </a:prstGeom>
          <a:solidFill>
            <a:srgbClr val="2563EB"/>
          </a:solidFill>
          <a:ln w="9525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59736" y="2743200"/>
            <a:ext cx="2057400" cy="457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59736" y="3044952"/>
            <a:ext cx="2057400" cy="384048"/>
          </a:xfrm>
          <a:prstGeom prst="rect">
            <a:avLst/>
          </a:prstGeom>
          <a:noFill/>
        </p:spPr>
        <p:txBody>
          <a:bodyPr wrap="square" anchor="ctr" lIns="101600" rIns="10160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Times New Roman"/>
              </a:rPr>
              <a:t>TOPSIS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9736" y="3447288"/>
            <a:ext cx="2057400" cy="502920"/>
          </a:xfrm>
          <a:prstGeom prst="rect">
            <a:avLst/>
          </a:prstGeom>
          <a:noFill/>
        </p:spPr>
        <p:txBody>
          <a:bodyPr wrap="square" anchor="ctr" lIns="101600" rIns="101600">
            <a:spAutoFit/>
          </a:bodyPr>
          <a:lstStyle/>
          <a:p>
            <a:pPr algn="ctr"/>
            <a:r>
              <a:rPr sz="1400" b="0">
                <a:solidFill>
                  <a:srgbClr val="DBEAFE"/>
                </a:solidFill>
                <a:latin typeface="B Nazanin"/>
              </a:rPr>
              <a:t>رتبه‌بندی نهایی در خوشه منتخب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916936"/>
            <a:ext cx="1325880" cy="1325880"/>
          </a:xfrm>
          <a:prstGeom prst="rect">
            <a:avLst/>
          </a:prstGeom>
          <a:solidFill>
            <a:srgbClr val="D1D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86384" y="2880360"/>
            <a:ext cx="1325880" cy="1325880"/>
          </a:xfrm>
          <a:prstGeom prst="rect">
            <a:avLst/>
          </a:prstGeom>
          <a:solidFill>
            <a:srgbClr val="1E40AF"/>
          </a:solidFill>
          <a:ln w="9525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86384" y="2880360"/>
            <a:ext cx="1325880" cy="457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6384" y="3182112"/>
            <a:ext cx="1325880" cy="384048"/>
          </a:xfrm>
          <a:prstGeom prst="rect">
            <a:avLst/>
          </a:prstGeom>
          <a:noFill/>
        </p:spPr>
        <p:txBody>
          <a:bodyPr wrap="square" anchor="ctr" lIns="101600" rIns="10160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B Nazanin"/>
              </a:rPr>
              <a:t>فناوری منتخب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" y="3584448"/>
            <a:ext cx="1325880" cy="502920"/>
          </a:xfrm>
          <a:prstGeom prst="rect">
            <a:avLst/>
          </a:prstGeom>
          <a:noFill/>
        </p:spPr>
        <p:txBody>
          <a:bodyPr wrap="square" anchor="ctr" lIns="101600" rIns="101600">
            <a:spAutoFit/>
          </a:bodyPr>
          <a:lstStyle/>
          <a:p>
            <a:pPr algn="ctr"/>
            <a:r>
              <a:rPr sz="1300" b="0">
                <a:solidFill>
                  <a:srgbClr val="DBEAFE"/>
                </a:solidFill>
                <a:latin typeface="B Nazanin"/>
              </a:rPr>
              <a:t>خروجی نهایی</a:t>
            </a:r>
          </a:p>
        </p:txBody>
      </p:sp>
      <p:sp>
        <p:nvSpPr>
          <p:cNvPr id="31" name="Chevron 30"/>
          <p:cNvSpPr/>
          <p:nvPr/>
        </p:nvSpPr>
        <p:spPr>
          <a:xfrm rot="10800000">
            <a:off x="9326880" y="3378708"/>
            <a:ext cx="347472" cy="329184"/>
          </a:xfrm>
          <a:prstGeom prst="chevron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hevron 31"/>
          <p:cNvSpPr/>
          <p:nvPr/>
        </p:nvSpPr>
        <p:spPr>
          <a:xfrm rot="10800000">
            <a:off x="6922008" y="3378708"/>
            <a:ext cx="347472" cy="329184"/>
          </a:xfrm>
          <a:prstGeom prst="chevron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hevron 32"/>
          <p:cNvSpPr/>
          <p:nvPr/>
        </p:nvSpPr>
        <p:spPr>
          <a:xfrm rot="10800000">
            <a:off x="4517136" y="3378708"/>
            <a:ext cx="347472" cy="329184"/>
          </a:xfrm>
          <a:prstGeom prst="chevron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hevron 33"/>
          <p:cNvSpPr/>
          <p:nvPr/>
        </p:nvSpPr>
        <p:spPr>
          <a:xfrm rot="10800000">
            <a:off x="2112264" y="3378708"/>
            <a:ext cx="347472" cy="329184"/>
          </a:xfrm>
          <a:prstGeom prst="chevron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475720" y="2852928"/>
            <a:ext cx="256032" cy="2560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75720" y="2852928"/>
            <a:ext cx="256032" cy="256032"/>
          </a:xfrm>
          <a:prstGeom prst="rect">
            <a:avLst/>
          </a:prstGeom>
          <a:noFill/>
        </p:spPr>
        <p:txBody>
          <a:bodyPr wrap="square" anchor="ctr" lIns="101600" rIns="101600">
            <a:spAutoFit/>
          </a:bodyPr>
          <a:lstStyle/>
          <a:p>
            <a:pPr algn="ctr"/>
            <a:r>
              <a:rPr sz="1100" b="1">
                <a:solidFill>
                  <a:srgbClr val="1E40AF"/>
                </a:solidFill>
                <a:latin typeface="B Nazanin"/>
              </a:rPr>
              <a:t>۱</a:t>
            </a:r>
          </a:p>
        </p:txBody>
      </p:sp>
      <p:sp>
        <p:nvSpPr>
          <p:cNvPr id="37" name="Oval 36"/>
          <p:cNvSpPr/>
          <p:nvPr/>
        </p:nvSpPr>
        <p:spPr>
          <a:xfrm>
            <a:off x="9070848" y="2852928"/>
            <a:ext cx="256032" cy="2560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70848" y="2852928"/>
            <a:ext cx="256032" cy="256032"/>
          </a:xfrm>
          <a:prstGeom prst="rect">
            <a:avLst/>
          </a:prstGeom>
          <a:noFill/>
        </p:spPr>
        <p:txBody>
          <a:bodyPr wrap="square" anchor="ctr" lIns="101600" rIns="101600">
            <a:spAutoFit/>
          </a:bodyPr>
          <a:lstStyle/>
          <a:p>
            <a:pPr algn="ctr"/>
            <a:r>
              <a:rPr sz="1100" b="1">
                <a:solidFill>
                  <a:srgbClr val="1E40AF"/>
                </a:solidFill>
                <a:latin typeface="B Nazanin"/>
              </a:rPr>
              <a:t>۲</a:t>
            </a:r>
          </a:p>
        </p:txBody>
      </p:sp>
      <p:sp>
        <p:nvSpPr>
          <p:cNvPr id="39" name="Oval 38"/>
          <p:cNvSpPr/>
          <p:nvPr/>
        </p:nvSpPr>
        <p:spPr>
          <a:xfrm>
            <a:off x="6665976" y="2852928"/>
            <a:ext cx="256032" cy="2560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65976" y="2852928"/>
            <a:ext cx="256032" cy="256032"/>
          </a:xfrm>
          <a:prstGeom prst="rect">
            <a:avLst/>
          </a:prstGeom>
          <a:noFill/>
        </p:spPr>
        <p:txBody>
          <a:bodyPr wrap="square" anchor="ctr" lIns="101600" rIns="101600">
            <a:spAutoFit/>
          </a:bodyPr>
          <a:lstStyle/>
          <a:p>
            <a:pPr algn="ctr"/>
            <a:r>
              <a:rPr sz="1100" b="1">
                <a:solidFill>
                  <a:srgbClr val="1E40AF"/>
                </a:solidFill>
                <a:latin typeface="B Nazanin"/>
              </a:rPr>
              <a:t>۳</a:t>
            </a:r>
          </a:p>
        </p:txBody>
      </p:sp>
      <p:sp>
        <p:nvSpPr>
          <p:cNvPr id="41" name="Oval 40"/>
          <p:cNvSpPr/>
          <p:nvPr/>
        </p:nvSpPr>
        <p:spPr>
          <a:xfrm>
            <a:off x="4261104" y="2852928"/>
            <a:ext cx="256032" cy="2560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61104" y="2852928"/>
            <a:ext cx="256032" cy="256032"/>
          </a:xfrm>
          <a:prstGeom prst="rect">
            <a:avLst/>
          </a:prstGeom>
          <a:noFill/>
        </p:spPr>
        <p:txBody>
          <a:bodyPr wrap="square" anchor="ctr" lIns="101600" rIns="101600">
            <a:spAutoFit/>
          </a:bodyPr>
          <a:lstStyle/>
          <a:p>
            <a:pPr algn="ctr"/>
            <a:r>
              <a:rPr sz="1100" b="1">
                <a:solidFill>
                  <a:srgbClr val="1E40AF"/>
                </a:solidFill>
                <a:latin typeface="B Nazanin"/>
              </a:rPr>
              <a:t>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4892040"/>
            <a:ext cx="10725912" cy="365760"/>
          </a:xfrm>
          <a:prstGeom prst="rect">
            <a:avLst/>
          </a:prstGeom>
          <a:noFill/>
        </p:spPr>
        <p:txBody>
          <a:bodyPr wrap="square" anchor="ctr" lIns="101600" rIns="101600">
            <a:spAutoFit/>
          </a:bodyPr>
          <a:lstStyle/>
          <a:p>
            <a:pPr algn="ctr"/>
            <a:r>
              <a:rPr sz="1500" b="0">
                <a:solidFill>
                  <a:srgbClr val="64748B"/>
                </a:solidFill>
                <a:latin typeface="B Nazanin"/>
              </a:rPr>
              <a:t>شکل X. چارچوب فرایندی انتخاب فناوری‌های شبکه سلولی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