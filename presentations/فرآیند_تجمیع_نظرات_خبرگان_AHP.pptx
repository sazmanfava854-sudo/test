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41080" y="0"/>
            <a:ext cx="502920" cy="514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64524" y="694944"/>
            <a:ext cx="256032" cy="25603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64524" y="1426464"/>
            <a:ext cx="256032" cy="25603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4524" y="2203704"/>
            <a:ext cx="256032" cy="25603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91372" y="2907792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64524" y="29809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64524" y="3758184"/>
            <a:ext cx="256032" cy="256032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320040"/>
            <a:ext cx="7863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2400" b="1">
                <a:solidFill>
                  <a:srgbClr val="1E293B"/>
                </a:solidFill>
                <a:latin typeface="Tahoma"/>
              </a:rPr>
              <a:t>گردآوری و تجمیع نظرات خبرگان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804672"/>
            <a:ext cx="7863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100" b="0">
                <a:solidFill>
                  <a:srgbClr val="64748B"/>
                </a:solidFill>
                <a:latin typeface="Tahoma"/>
              </a:rPr>
              <a:t>فرآیند AHP — از جمع‌آوری ماتریس تا محاسبه وزن نهایی</a:t>
            </a:r>
          </a:p>
        </p:txBody>
      </p:sp>
      <p:sp>
        <p:nvSpPr>
          <p:cNvPr id="12" name="Right Arrow 11"/>
          <p:cNvSpPr/>
          <p:nvPr/>
        </p:nvSpPr>
        <p:spPr>
          <a:xfrm rot="10800000">
            <a:off x="6885432" y="2537460"/>
            <a:ext cx="256032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 rot="10800000">
            <a:off x="5513832" y="2537460"/>
            <a:ext cx="256032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 rot="10800000">
            <a:off x="4142232" y="2537460"/>
            <a:ext cx="256032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 rot="10800000">
            <a:off x="2770632" y="2537460"/>
            <a:ext cx="256032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 rot="10800000">
            <a:off x="1399032" y="2537460"/>
            <a:ext cx="256032" cy="18288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41464" y="2148840"/>
            <a:ext cx="1115568" cy="9601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96328" y="2276856"/>
            <a:ext cx="1005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Tahoma"/>
              </a:rPr>
              <a:t>گردآوری نظرات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2587752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DBEAFE"/>
                </a:solidFill>
                <a:latin typeface="Tahoma"/>
              </a:rPr>
              <a:t>جمع‌آوری ماتریس‌های زوجی از خبرگان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9864" y="2148840"/>
            <a:ext cx="1115568" cy="9601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728" y="2276856"/>
            <a:ext cx="1005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Tahoma"/>
              </a:rPr>
              <a:t>مقایسه زوجی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4728" y="2587752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DBEAFE"/>
                </a:solidFill>
                <a:latin typeface="Tahoma"/>
              </a:rPr>
              <a:t>با مقیاس ساعتی AHP (۱ تا ۹)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8264" y="2148840"/>
            <a:ext cx="1115568" cy="9601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2276856"/>
            <a:ext cx="1005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Tahoma"/>
              </a:rPr>
              <a:t>بررسی سازگاری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587752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DBEAFE"/>
                </a:solidFill>
                <a:latin typeface="Tahoma"/>
              </a:rPr>
              <a:t>محاسبه CR برای هر خبره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26664" y="2148840"/>
            <a:ext cx="1115568" cy="9601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81528" y="2276856"/>
            <a:ext cx="1005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Tahoma"/>
              </a:rPr>
              <a:t>پذیرش ماتریس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81528" y="2587752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DBEAFE"/>
                </a:solidFill>
                <a:latin typeface="Tahoma"/>
              </a:rPr>
              <a:t>فقط CR &lt; ۰٫۱ پذیرفته می‌شود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55064" y="2148840"/>
            <a:ext cx="1115568" cy="9601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9928" y="2276856"/>
            <a:ext cx="1005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100" b="1">
                <a:solidFill>
                  <a:srgbClr val="FFFFFF"/>
                </a:solidFill>
                <a:latin typeface="Tahoma"/>
              </a:rPr>
              <a:t>میانگین هندسی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2587752"/>
            <a:ext cx="1005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800" b="0">
                <a:solidFill>
                  <a:srgbClr val="DBEAFE"/>
                </a:solidFill>
                <a:latin typeface="Tahoma"/>
              </a:rPr>
              <a:t>تجمیع نظرات پذیرفته‌شده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" y="2299716"/>
            <a:ext cx="868680" cy="658368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2464308"/>
            <a:ext cx="777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a:rtl="1"/>
            <a:r>
              <a:rPr sz="1000" b="1">
                <a:solidFill>
                  <a:srgbClr val="FFFFFF"/>
                </a:solidFill>
                <a:latin typeface="Tahoma"/>
              </a:rPr>
              <a:t>وزن نهایی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434840"/>
            <a:ext cx="2286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a:rtl="1"/>
            <a:r>
              <a:rPr sz="1200" b="1">
                <a:solidFill>
                  <a:srgbClr val="2563EB"/>
                </a:solidFill>
                <a:latin typeface="Tahoma"/>
              </a:rPr>
              <a:t>روش پیشنهادی</a:t>
            </a:r>
          </a:p>
        </p:txBody>
      </p:sp>
      <p:sp>
        <p:nvSpPr>
          <p:cNvPr id="35" name="Oval 34"/>
          <p:cNvSpPr/>
          <p:nvPr/>
        </p:nvSpPr>
        <p:spPr>
          <a:xfrm>
            <a:off x="2743200" y="4462272"/>
            <a:ext cx="256032" cy="25603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63240" y="4443984"/>
            <a:ext cx="320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E293B"/>
                </a:solidFill>
                <a:latin typeface="Tahoma"/>
              </a:rPr>
              <a:t>16</a:t>
            </a:r>
          </a:p>
        </p:txBody>
      </p:sp>
      <p:sp>
        <p:nvSpPr>
          <p:cNvPr id="37" name="Oval 36"/>
          <p:cNvSpPr/>
          <p:nvPr/>
        </p:nvSpPr>
        <p:spPr>
          <a:xfrm>
            <a:off x="3429000" y="4462272"/>
            <a:ext cx="256032" cy="25603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