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a:rtl="1"/>
            <a:r>
              <a:rPr sz="2800" b="1">
                <a:solidFill>
                  <a:srgbClr val="1E3A5F"/>
                </a:solidFill>
                <a:latin typeface="Tahoma"/>
              </a:rPr>
              <a:t>فرآیند گردآوری و تجمیع نظرات خبرگان (AHP)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49808"/>
            <a:ext cx="8229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a:rtl="1"/>
            <a:r>
              <a:rPr sz="1300" b="0">
                <a:solidFill>
                  <a:srgbClr val="6B7280"/>
                </a:solidFill>
                <a:latin typeface="Tahoma"/>
              </a:rPr>
              <a:t>از جمع‌آوری ماتریس‌های زوجی تا محاسبه وزن نهایی معیارها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89320" y="1234440"/>
            <a:ext cx="2606040" cy="868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1D9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1325880"/>
            <a:ext cx="347472" cy="347472"/>
          </a:xfrm>
          <a:prstGeom prst="roundRect">
            <a:avLst/>
          </a:prstGeom>
          <a:solidFill>
            <a:srgbClr val="2B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Tahoma"/>
              </a:rPr>
              <a:t>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1344168"/>
            <a:ext cx="20116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a:rtl="1"/>
            <a:r>
              <a:rPr sz="1300" b="1">
                <a:solidFill>
                  <a:srgbClr val="2D343E"/>
                </a:solidFill>
                <a:latin typeface="Tahoma"/>
              </a:rPr>
              <a:t>گردآوری نظرات خبرگان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1673352"/>
            <a:ext cx="24231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a:rtl="1"/>
            <a:r>
              <a:rPr sz="1000" b="0">
                <a:solidFill>
                  <a:srgbClr val="6B7280"/>
                </a:solidFill>
                <a:latin typeface="Tahoma"/>
              </a:rPr>
              <a:t>جمع‌آوری ماتریس‌های مقایسه زوجی از خبرگان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63240" y="1234440"/>
            <a:ext cx="2606040" cy="868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1D9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212080" y="1325880"/>
            <a:ext cx="347472" cy="347472"/>
          </a:xfrm>
          <a:prstGeom prst="roundRect">
            <a:avLst/>
          </a:prstGeom>
          <a:solidFill>
            <a:srgbClr val="2B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Tahoma"/>
              </a:rPr>
              <a:t>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1344168"/>
            <a:ext cx="20116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a:rtl="1"/>
            <a:r>
              <a:rPr sz="1300" b="1">
                <a:solidFill>
                  <a:srgbClr val="2D343E"/>
                </a:solidFill>
                <a:latin typeface="Tahoma"/>
              </a:rPr>
              <a:t>مقایسه‌های زوجی معیارها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1673352"/>
            <a:ext cx="24231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a:rtl="1"/>
            <a:r>
              <a:rPr sz="1000" b="0">
                <a:solidFill>
                  <a:srgbClr val="6B7280"/>
                </a:solidFill>
                <a:latin typeface="Tahoma"/>
              </a:rPr>
              <a:t>انجام با مقیاس ساعتی AHP (۱ تا ۹)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7160" y="1234440"/>
            <a:ext cx="2606040" cy="868680"/>
          </a:xfrm>
          <a:prstGeom prst="roundRect">
            <a:avLst/>
          </a:prstGeom>
          <a:solidFill>
            <a:srgbClr val="E0F2F1"/>
          </a:solidFill>
          <a:ln w="19050"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286000" y="1325880"/>
            <a:ext cx="347472" cy="347472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Tahoma"/>
              </a:rPr>
              <a:t>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1344168"/>
            <a:ext cx="20116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a:rtl="1"/>
            <a:r>
              <a:rPr sz="1300" b="1">
                <a:solidFill>
                  <a:srgbClr val="2D343E"/>
                </a:solidFill>
                <a:latin typeface="Tahoma"/>
              </a:rPr>
              <a:t>بررسی سازگاری هر خبره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1673352"/>
            <a:ext cx="24231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a:rtl="1"/>
            <a:r>
              <a:rPr sz="1000" b="0">
                <a:solidFill>
                  <a:srgbClr val="6B7280"/>
                </a:solidFill>
                <a:latin typeface="Tahoma"/>
              </a:rPr>
              <a:t>محاسبه CR برای ماتریس هر خبره به‌صورت جداگانه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89320" y="2606040"/>
            <a:ext cx="2606040" cy="868680"/>
          </a:xfrm>
          <a:prstGeom prst="roundRect">
            <a:avLst/>
          </a:prstGeom>
          <a:solidFill>
            <a:srgbClr val="E8F5E9"/>
          </a:solidFill>
          <a:ln w="254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138160" y="2697480"/>
            <a:ext cx="347472" cy="347472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Tahoma"/>
              </a:rPr>
              <a:t>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0" y="2715768"/>
            <a:ext cx="20116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a:rtl="1"/>
            <a:r>
              <a:rPr sz="1300" b="1">
                <a:solidFill>
                  <a:srgbClr val="2D343E"/>
                </a:solidFill>
                <a:latin typeface="Tahoma"/>
              </a:rPr>
              <a:t>پذیرش ماتریس‌های سازگار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3044952"/>
            <a:ext cx="24231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a:rtl="1"/>
            <a:r>
              <a:rPr sz="1000" b="0">
                <a:solidFill>
                  <a:srgbClr val="6B7280"/>
                </a:solidFill>
                <a:latin typeface="Tahoma"/>
              </a:rPr>
              <a:t>فقط ماتریس‌هایی با CR &lt; ۰٫۱ پذیرفته می‌شوند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0" y="3182112"/>
            <a:ext cx="242316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1B5E20"/>
                </a:solidFill>
                <a:latin typeface="Tahoma"/>
              </a:rPr>
              <a:t>✓  CR &lt; 0.1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063240" y="2606040"/>
            <a:ext cx="2606040" cy="868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1D9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212080" y="2697480"/>
            <a:ext cx="347472" cy="347472"/>
          </a:xfrm>
          <a:prstGeom prst="roundRect">
            <a:avLst/>
          </a:prstGeom>
          <a:solidFill>
            <a:srgbClr val="2B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Tahoma"/>
              </a:rPr>
              <a:t>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00400" y="2715768"/>
            <a:ext cx="20116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a:rtl="1"/>
            <a:r>
              <a:rPr sz="1300" b="1">
                <a:solidFill>
                  <a:srgbClr val="2D343E"/>
                </a:solidFill>
                <a:latin typeface="Tahoma"/>
              </a:rPr>
              <a:t>تجمیع با میانگین هندسی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3044952"/>
            <a:ext cx="24231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a:rtl="1"/>
            <a:r>
              <a:rPr sz="1000" b="0">
                <a:solidFill>
                  <a:srgbClr val="6B7280"/>
                </a:solidFill>
                <a:latin typeface="Tahoma"/>
              </a:rPr>
              <a:t>ادغام نظرات پذیرفته‌شده خبرگان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37160" y="2606040"/>
            <a:ext cx="2606040" cy="868680"/>
          </a:xfrm>
          <a:prstGeom prst="roundRect">
            <a:avLst/>
          </a:prstGeom>
          <a:solidFill>
            <a:srgbClr val="1E3A5F"/>
          </a:solidFill>
          <a:ln w="1905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2286000" y="2697480"/>
            <a:ext cx="347472" cy="347472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Tahoma"/>
              </a:rPr>
              <a:t>۶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" y="2715768"/>
            <a:ext cx="20116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a:rtl="1"/>
            <a:r>
              <a:rPr sz="1300" b="1">
                <a:solidFill>
                  <a:srgbClr val="FFFFFF"/>
                </a:solidFill>
                <a:latin typeface="Tahoma"/>
              </a:rPr>
              <a:t>محاسبه وزن نهایی معیارها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" y="3044952"/>
            <a:ext cx="24231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a:rtl="1"/>
            <a:r>
              <a:rPr sz="1000" b="0">
                <a:solidFill>
                  <a:srgbClr val="BBDEFB"/>
                </a:solidFill>
                <a:latin typeface="Tahoma"/>
              </a:rPr>
              <a:t>ماتریس تجمیع‌شده مبنای بردار وزن نهایی است</a:t>
            </a:r>
          </a:p>
        </p:txBody>
      </p:sp>
      <p:cxnSp>
        <p:nvCxnSpPr>
          <p:cNvPr id="31" name="Connector 30"/>
          <p:cNvCxnSpPr/>
          <p:nvPr/>
        </p:nvCxnSpPr>
        <p:spPr>
          <a:xfrm flipH="1">
            <a:off x="5669280" y="1668780.0"/>
            <a:ext cx="320040" cy="0.0"/>
          </a:xfrm>
          <a:prstGeom prst="line">
            <a:avLst/>
          </a:prstGeom>
          <a:ln w="31750">
            <a:solidFill>
              <a:srgbClr val="00968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H="1">
            <a:off x="2743200" y="1668780.0"/>
            <a:ext cx="320040" cy="0.0"/>
          </a:xfrm>
          <a:prstGeom prst="line">
            <a:avLst/>
          </a:prstGeom>
          <a:ln w="31750">
            <a:solidFill>
              <a:srgbClr val="00968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440180.0" y="2103120"/>
            <a:ext cx="0.0" cy="502920"/>
          </a:xfrm>
          <a:prstGeom prst="line">
            <a:avLst/>
          </a:prstGeom>
          <a:ln w="31750">
            <a:solidFill>
              <a:srgbClr val="00968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H="1">
            <a:off x="5669280" y="3040380.0"/>
            <a:ext cx="320040" cy="0.0"/>
          </a:xfrm>
          <a:prstGeom prst="line">
            <a:avLst/>
          </a:prstGeom>
          <a:ln w="31750">
            <a:solidFill>
              <a:srgbClr val="00968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H="1">
            <a:off x="2743200" y="3040380.0"/>
            <a:ext cx="320040" cy="0.0"/>
          </a:xfrm>
          <a:prstGeom prst="line">
            <a:avLst/>
          </a:prstGeom>
          <a:ln w="31750">
            <a:solidFill>
              <a:srgbClr val="00968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4572000" y="2926080"/>
            <a:ext cx="1280160" cy="502920"/>
          </a:xfrm>
          <a:prstGeom prst="roundRect">
            <a:avLst/>
          </a:prstGeom>
          <a:solidFill>
            <a:srgbClr val="FFEBEE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617720" y="2971800"/>
            <a:ext cx="11887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a:rtl="1"/>
            <a:r>
              <a:rPr sz="900" b="1">
                <a:solidFill>
                  <a:srgbClr val="C62828"/>
                </a:solidFill>
                <a:latin typeface="Tahoma"/>
              </a:rPr>
              <a:t>CR ≥ 0.1</a:t>
            </a:r>
            <a:br/>
            <a:r>
              <a:t>بازنگری / حذف</a:t>
            </a:r>
          </a:p>
        </p:txBody>
      </p:sp>
      <p:cxnSp>
        <p:nvCxnSpPr>
          <p:cNvPr id="38" name="Connector 37"/>
          <p:cNvCxnSpPr/>
          <p:nvPr/>
        </p:nvCxnSpPr>
        <p:spPr>
          <a:xfrm flipH="1">
            <a:off x="5852160" y="3154680"/>
            <a:ext cx="137160" cy="27432"/>
          </a:xfrm>
          <a:prstGeom prst="line">
            <a:avLst/>
          </a:prstGeom>
          <a:ln w="19050">
            <a:solidFill>
              <a:srgbClr val="C6282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365760" y="1234440"/>
            <a:ext cx="2286000" cy="2331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1D9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2920" y="1371600"/>
            <a:ext cx="20116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a:rtl="1"/>
            <a:r>
              <a:rPr sz="1300" b="1">
                <a:solidFill>
                  <a:srgbClr val="1E3A5F"/>
                </a:solidFill>
                <a:latin typeface="Tahoma"/>
              </a:rPr>
              <a:t>راهنمای نمادها</a:t>
            </a:r>
          </a:p>
        </p:txBody>
      </p:sp>
      <p:sp>
        <p:nvSpPr>
          <p:cNvPr id="41" name="Oval 40"/>
          <p:cNvSpPr/>
          <p:nvPr/>
        </p:nvSpPr>
        <p:spPr>
          <a:xfrm>
            <a:off x="594360" y="1737360"/>
            <a:ext cx="164592" cy="164592"/>
          </a:xfrm>
          <a:prstGeom prst="ellipse">
            <a:avLst/>
          </a:prstGeom>
          <a:solidFill>
            <a:srgbClr val="2B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" y="1719072"/>
            <a:ext cx="164592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a:rtl="1"/>
            <a:r>
              <a:rPr sz="1000" b="0">
                <a:solidFill>
                  <a:srgbClr val="2D343E"/>
                </a:solidFill>
                <a:latin typeface="Tahoma"/>
              </a:rPr>
              <a:t>مرحله پردازش</a:t>
            </a:r>
          </a:p>
        </p:txBody>
      </p:sp>
      <p:sp>
        <p:nvSpPr>
          <p:cNvPr id="43" name="Oval 42"/>
          <p:cNvSpPr/>
          <p:nvPr/>
        </p:nvSpPr>
        <p:spPr>
          <a:xfrm>
            <a:off x="594360" y="2084832"/>
            <a:ext cx="164592" cy="164592"/>
          </a:xfrm>
          <a:prstGeom prst="ellipse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68680" y="2066544"/>
            <a:ext cx="164592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a:rtl="1"/>
            <a:r>
              <a:rPr sz="1000" b="0">
                <a:solidFill>
                  <a:srgbClr val="2D343E"/>
                </a:solidFill>
                <a:latin typeface="Tahoma"/>
              </a:rPr>
              <a:t>بررسی سازگاری</a:t>
            </a:r>
          </a:p>
        </p:txBody>
      </p:sp>
      <p:sp>
        <p:nvSpPr>
          <p:cNvPr id="45" name="Oval 44"/>
          <p:cNvSpPr/>
          <p:nvPr/>
        </p:nvSpPr>
        <p:spPr>
          <a:xfrm>
            <a:off x="594360" y="2432304"/>
            <a:ext cx="164592" cy="164592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68680" y="2414016"/>
            <a:ext cx="164592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a:rtl="1"/>
            <a:r>
              <a:rPr sz="1000" b="0">
                <a:solidFill>
                  <a:srgbClr val="2D343E"/>
                </a:solidFill>
                <a:latin typeface="Tahoma"/>
              </a:rPr>
              <a:t>فیلتر پذیرش (CR)</a:t>
            </a:r>
          </a:p>
        </p:txBody>
      </p:sp>
      <p:sp>
        <p:nvSpPr>
          <p:cNvPr id="47" name="Oval 46"/>
          <p:cNvSpPr/>
          <p:nvPr/>
        </p:nvSpPr>
        <p:spPr>
          <a:xfrm>
            <a:off x="594360" y="2779776"/>
            <a:ext cx="164592" cy="164592"/>
          </a:xfrm>
          <a:prstGeom prst="ellipse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68680" y="2761488"/>
            <a:ext cx="164592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a:rtl="1"/>
            <a:r>
              <a:rPr sz="1000" b="0">
                <a:solidFill>
                  <a:srgbClr val="2D343E"/>
                </a:solidFill>
                <a:latin typeface="Tahoma"/>
              </a:rPr>
              <a:t>خروجی نهایی</a:t>
            </a:r>
          </a:p>
        </p:txBody>
      </p:sp>
      <p:sp>
        <p:nvSpPr>
          <p:cNvPr id="49" name="Oval 48"/>
          <p:cNvSpPr/>
          <p:nvPr/>
        </p:nvSpPr>
        <p:spPr>
          <a:xfrm>
            <a:off x="594360" y="3127248"/>
            <a:ext cx="164592" cy="164592"/>
          </a:xfrm>
          <a:prstGeom prst="ellipse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68680" y="3108960"/>
            <a:ext cx="164592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a:rtl="1"/>
            <a:r>
              <a:rPr sz="1000" b="0">
                <a:solidFill>
                  <a:srgbClr val="2D343E"/>
                </a:solidFill>
                <a:latin typeface="Tahoma"/>
              </a:rPr>
              <a:t>رد / بازنگری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65760" y="3794760"/>
            <a:ext cx="2286000" cy="777240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F57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02920" y="3913632"/>
            <a:ext cx="201168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a:rtl="1"/>
            <a:r>
              <a:rPr sz="1100" b="1">
                <a:solidFill>
                  <a:srgbClr val="F57C00"/>
                </a:solidFill>
                <a:latin typeface="Tahoma"/>
              </a:rPr>
              <a:t>مقیاس ساعتی AHP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02920" y="4160520"/>
            <a:ext cx="20116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a:rtl="1"/>
            <a:r>
              <a:rPr sz="900" b="0">
                <a:solidFill>
                  <a:srgbClr val="2D343E"/>
                </a:solidFill>
                <a:latin typeface="Tahoma"/>
              </a:rPr>
              <a:t>۱ = برابر  ·  ۳ = متوسط  ·  ۵ = قوی  ·  ۹ = مطلق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4663440"/>
            <a:ext cx="841248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Tahoma"/>
              </a:rPr>
              <a:t>AHP — Analytic Hierarchy Process  |  Saaty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