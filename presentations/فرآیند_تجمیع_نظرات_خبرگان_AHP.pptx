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2800" b="1">
                <a:solidFill>
                  <a:srgbClr val="1E3A5F"/>
                </a:solidFill>
                <a:latin typeface="Tahoma"/>
              </a:rPr>
              <a:t>گردآوری و تجمیع نظرات خبرگان در AHP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300" b="0">
                <a:solidFill>
                  <a:srgbClr val="6B7280"/>
                </a:solidFill>
                <a:latin typeface="Tahoma"/>
              </a:rPr>
              <a:t>سه فاز: گردآوری داده  ·  کنترل کیفیت  ·  تجمیع و خروجی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606040" cy="384048"/>
          </a:xfrm>
          <a:prstGeom prst="round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a:rtl="1"/>
            <a:r>
              <a:rPr sz="1300" b="1">
                <a:solidFill>
                  <a:srgbClr val="FFFFFF"/>
                </a:solidFill>
                <a:latin typeface="Tahoma"/>
              </a:rPr>
              <a:t>گردآوری داده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28216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28216"/>
            <a:ext cx="2606040" cy="54864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" y="1892808"/>
            <a:ext cx="384048" cy="38404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ction Button: Beginning 9"/>
          <p:cNvSpPr/>
          <p:nvPr/>
        </p:nvSpPr>
        <p:spPr>
          <a:xfrm>
            <a:off x="612648" y="1956816"/>
            <a:ext cx="237744" cy="237744"/>
          </a:xfrm>
          <a:prstGeom prst="actionButtonBeginning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78608" y="1856232"/>
            <a:ext cx="310896" cy="310896"/>
          </a:xfrm>
          <a:prstGeom prst="round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874520"/>
            <a:ext cx="18928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200" b="1">
                <a:solidFill>
                  <a:srgbClr val="2D343E"/>
                </a:solidFill>
                <a:latin typeface="Tahoma"/>
              </a:rPr>
              <a:t>گردآوری نظرات خبرگان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185416"/>
            <a:ext cx="18928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950" b="0">
                <a:solidFill>
                  <a:srgbClr val="6B7280"/>
                </a:solidFill>
                <a:latin typeface="Tahoma"/>
              </a:rPr>
              <a:t>جمع‌آوری ماتریس‌های مقایسه زوجی از خبرگان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44368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44368"/>
            <a:ext cx="2606040" cy="54864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9496" y="3108960"/>
            <a:ext cx="384048" cy="38404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ction Button: Back or Previous 16"/>
          <p:cNvSpPr/>
          <p:nvPr/>
        </p:nvSpPr>
        <p:spPr>
          <a:xfrm>
            <a:off x="612648" y="3172968"/>
            <a:ext cx="237744" cy="237744"/>
          </a:xfrm>
          <a:prstGeom prst="actionButtonBackPrevious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78608" y="3072384"/>
            <a:ext cx="310896" cy="310896"/>
          </a:xfrm>
          <a:prstGeom prst="round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090672"/>
            <a:ext cx="18928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200" b="1">
                <a:solidFill>
                  <a:srgbClr val="2D343E"/>
                </a:solidFill>
                <a:latin typeface="Tahoma"/>
              </a:rPr>
              <a:t>مقایسه‌های زوجی معیارها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401568"/>
            <a:ext cx="18928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950" b="0">
                <a:solidFill>
                  <a:srgbClr val="6B7280"/>
                </a:solidFill>
                <a:latin typeface="Tahoma"/>
              </a:rPr>
              <a:t>انجام با مقیاس ساعتی AHP (۱ تا ۹)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18688" y="1234440"/>
            <a:ext cx="260604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a:rtl="1"/>
            <a:r>
              <a:rPr sz="1300" b="1">
                <a:solidFill>
                  <a:srgbClr val="FFFFFF"/>
                </a:solidFill>
                <a:latin typeface="Tahoma"/>
              </a:rPr>
              <a:t>کنترل کیفیت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8688" y="1728216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18688" y="1728216"/>
            <a:ext cx="26060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46704" y="1892808"/>
            <a:ext cx="384048" cy="38404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ction Button: Document 24"/>
          <p:cNvSpPr/>
          <p:nvPr/>
        </p:nvSpPr>
        <p:spPr>
          <a:xfrm>
            <a:off x="3419856" y="1956816"/>
            <a:ext cx="237744" cy="237744"/>
          </a:xfrm>
          <a:prstGeom prst="actionButtonDocumen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85816" y="1856232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5616" y="1874520"/>
            <a:ext cx="18928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200" b="1">
                <a:solidFill>
                  <a:srgbClr val="2D343E"/>
                </a:solidFill>
                <a:latin typeface="Tahoma"/>
              </a:rPr>
              <a:t>بررسی سازگاری هر خبره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5616" y="2185416"/>
            <a:ext cx="18928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950" b="0">
                <a:solidFill>
                  <a:srgbClr val="6B7280"/>
                </a:solidFill>
                <a:latin typeface="Tahoma"/>
              </a:rPr>
              <a:t>محاسبه CR برای ماتریس هر خبره به‌صورت جداگانه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18688" y="2944368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18688" y="2944368"/>
            <a:ext cx="26060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46704" y="3108960"/>
            <a:ext cx="384048" cy="38404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tion Button: End 31"/>
          <p:cNvSpPr/>
          <p:nvPr/>
        </p:nvSpPr>
        <p:spPr>
          <a:xfrm>
            <a:off x="3419856" y="3172968"/>
            <a:ext cx="237744" cy="237744"/>
          </a:xfrm>
          <a:prstGeom prst="actionButtonEnd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85816" y="3072384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85616" y="3090672"/>
            <a:ext cx="18928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200" b="1">
                <a:solidFill>
                  <a:srgbClr val="2D343E"/>
                </a:solidFill>
                <a:latin typeface="Tahoma"/>
              </a:rPr>
              <a:t>پذیرش ماتریس‌های سازگار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5616" y="3401568"/>
            <a:ext cx="18928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950" b="0">
                <a:solidFill>
                  <a:srgbClr val="6B7280"/>
                </a:solidFill>
                <a:latin typeface="Tahoma"/>
              </a:rPr>
              <a:t>فقط ماتریس‌هایی با نسبت سازگاری کمتر از ۰٫۱ پذیرفته می‌شوند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46704" y="3685032"/>
            <a:ext cx="960120" cy="21945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B5E20"/>
                </a:solidFill>
                <a:latin typeface="Tahoma"/>
              </a:rPr>
              <a:t>CR &lt; 0.1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25896" y="1234440"/>
            <a:ext cx="2606040" cy="38404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a:rtl="1"/>
            <a:r>
              <a:rPr sz="1300" b="1">
                <a:solidFill>
                  <a:srgbClr val="FFFFFF"/>
                </a:solidFill>
                <a:latin typeface="Tahoma"/>
              </a:rPr>
              <a:t>تجمیع و خروجی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25896" y="1728216"/>
            <a:ext cx="26060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25896" y="1728216"/>
            <a:ext cx="26060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53912" y="1892808"/>
            <a:ext cx="384048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ction Button: Return 40"/>
          <p:cNvSpPr/>
          <p:nvPr/>
        </p:nvSpPr>
        <p:spPr>
          <a:xfrm>
            <a:off x="6227064" y="1956816"/>
            <a:ext cx="237744" cy="237744"/>
          </a:xfrm>
          <a:prstGeom prst="actionButtonReturn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93024" y="1856232"/>
            <a:ext cx="310896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1874520"/>
            <a:ext cx="18928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200" b="1">
                <a:solidFill>
                  <a:srgbClr val="2D343E"/>
                </a:solidFill>
                <a:latin typeface="Tahoma"/>
              </a:rPr>
              <a:t>تجمیع با میانگین هندسی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2185416"/>
            <a:ext cx="18928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950" b="0">
                <a:solidFill>
                  <a:srgbClr val="6B7280"/>
                </a:solidFill>
                <a:latin typeface="Tahoma"/>
              </a:rPr>
              <a:t>نظرات پذیرفته‌شده با میانگین هندسی ادغام می‌شوند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25896" y="2944368"/>
            <a:ext cx="2606040" cy="10515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25896" y="2944368"/>
            <a:ext cx="26060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53912" y="3108960"/>
            <a:ext cx="384048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5-Point Star 47"/>
          <p:cNvSpPr/>
          <p:nvPr/>
        </p:nvSpPr>
        <p:spPr>
          <a:xfrm>
            <a:off x="6227064" y="3172968"/>
            <a:ext cx="237744" cy="237744"/>
          </a:xfrm>
          <a:prstGeom prst="star5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93024" y="3072384"/>
            <a:ext cx="310896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2824" y="3090672"/>
            <a:ext cx="18928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200" b="1">
                <a:solidFill>
                  <a:srgbClr val="FFFFFF"/>
                </a:solidFill>
                <a:latin typeface="Tahoma"/>
              </a:rPr>
              <a:t>محاسبه وزن نهایی معیارها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2824" y="3401568"/>
            <a:ext cx="18928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950" b="0">
                <a:solidFill>
                  <a:srgbClr val="BBDEFB"/>
                </a:solidFill>
                <a:latin typeface="Tahoma"/>
              </a:rPr>
              <a:t>ماتریس تجمیع‌شده مبنای بردار وزن نهایی است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4315968"/>
            <a:ext cx="8321040" cy="566928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000" b="0">
                <a:solidFill>
                  <a:srgbClr val="2D343E"/>
                </a:solidFill>
                <a:latin typeface="Tahoma"/>
              </a:rPr>
              <a:t>مقیاس ساعتی: ۱ = برابر  ·  ۳ = متوسط  ·  ۵ = قوی  ·  ۷ = خیلی قوی  ·  ۹ = مطلق  |  آستانه سازگاری: CR &lt; 0.1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4681728"/>
            <a:ext cx="8321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Tahoma"/>
              </a:rPr>
              <a:t>AHP — Analytic Hierarchy Process  |  Saaty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