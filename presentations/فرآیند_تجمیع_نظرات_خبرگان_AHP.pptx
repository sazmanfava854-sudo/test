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2800" b="1">
                <a:solidFill>
                  <a:srgbClr val="1E3A5F"/>
                </a:solidFill>
                <a:latin typeface="Tahoma"/>
              </a:rPr>
              <a:t>گردآوری و تجمیع نظرات خبرگان در AHP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8321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300" b="0">
                <a:solidFill>
                  <a:srgbClr val="6B7280"/>
                </a:solidFill>
                <a:latin typeface="Tahoma"/>
              </a:rPr>
              <a:t>تایم‌لاین افقی مراحل فرآیند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72080"/>
            <a:ext cx="7772400" cy="50800"/>
          </a:xfrm>
          <a:prstGeom prst="rect">
            <a:avLst/>
          </a:prstGeom>
          <a:solidFill>
            <a:srgbClr val="D1D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52928"/>
            <a:ext cx="2377440" cy="36576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07792"/>
            <a:ext cx="2377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2B5C8A"/>
                </a:solidFill>
                <a:latin typeface="Tahoma"/>
              </a:rPr>
              <a:t>گردآوری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2852928"/>
            <a:ext cx="237744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2907792"/>
            <a:ext cx="23774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009688"/>
                </a:solidFill>
                <a:latin typeface="Tahoma"/>
              </a:rPr>
              <a:t>کنترل کیفیت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0680" y="2852928"/>
            <a:ext cx="3017520" cy="365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2907792"/>
            <a:ext cx="30175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1E3A5F"/>
                </a:solidFill>
                <a:latin typeface="Tahoma"/>
              </a:rPr>
              <a:t>خروجی</a:t>
            </a:r>
          </a:p>
        </p:txBody>
      </p:sp>
      <p:sp>
        <p:nvSpPr>
          <p:cNvPr id="13" name="Oval 12"/>
          <p:cNvSpPr/>
          <p:nvPr/>
        </p:nvSpPr>
        <p:spPr>
          <a:xfrm>
            <a:off x="8147304" y="2386584"/>
            <a:ext cx="621792" cy="621792"/>
          </a:xfrm>
          <a:prstGeom prst="ellipse">
            <a:avLst/>
          </a:prstGeom>
          <a:solidFill>
            <a:srgbClr val="E3F2FD"/>
          </a:solidFill>
          <a:ln w="2286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02168" y="2441448"/>
            <a:ext cx="512064" cy="512064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8976" y="1408176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481328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2D343E"/>
                </a:solidFill>
                <a:latin typeface="Tahoma"/>
              </a:rPr>
              <a:t>گردآوری نظرات خبرگان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755648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6B7280"/>
                </a:solidFill>
                <a:latin typeface="Tahoma"/>
              </a:rPr>
              <a:t>جمع‌آوری ماتریس‌های مقایسه زوجی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5500" y="2276856"/>
            <a:ext cx="25400" cy="109728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92824" y="2386584"/>
            <a:ext cx="621792" cy="621792"/>
          </a:xfrm>
          <a:prstGeom prst="ellipse">
            <a:avLst/>
          </a:prstGeom>
          <a:solidFill>
            <a:srgbClr val="E3F2FD"/>
          </a:solidFill>
          <a:ln w="2286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47688" y="2441448"/>
            <a:ext cx="512064" cy="512064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118104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191256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2D343E"/>
                </a:solidFill>
                <a:latin typeface="Tahoma"/>
              </a:rPr>
              <a:t>مقایسه‌های زوجی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465576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6B7280"/>
                </a:solidFill>
                <a:latin typeface="Tahoma"/>
              </a:rPr>
              <a:t>با مقیاس ساعتی AHP (۱ تا ۹)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91020" y="3008376"/>
            <a:ext cx="25400" cy="109728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38344" y="2386584"/>
            <a:ext cx="621792" cy="621792"/>
          </a:xfrm>
          <a:prstGeom prst="ellipse">
            <a:avLst/>
          </a:prstGeom>
          <a:solidFill>
            <a:srgbClr val="E0F2F1"/>
          </a:solidFill>
          <a:ln w="2286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93208" y="2441448"/>
            <a:ext cx="512064" cy="512064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0016" y="1408176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1481328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2D343E"/>
                </a:solidFill>
                <a:latin typeface="Tahoma"/>
              </a:rPr>
              <a:t>بررسی سازگاری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1755648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6B7280"/>
                </a:solidFill>
                <a:latin typeface="Tahoma"/>
              </a:rPr>
              <a:t>محاسبه CR برای هر خبره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6540" y="2276856"/>
            <a:ext cx="2540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83864" y="2386584"/>
            <a:ext cx="621792" cy="621792"/>
          </a:xfrm>
          <a:prstGeom prst="ellipse">
            <a:avLst/>
          </a:prstGeom>
          <a:solidFill>
            <a:srgbClr val="E8F5E9"/>
          </a:solidFill>
          <a:ln w="228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38728" y="24414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5536" y="3118104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3191256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2D343E"/>
                </a:solidFill>
                <a:latin typeface="Tahoma"/>
              </a:rPr>
              <a:t>پذیرش ماتریس‌ها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465576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6B7280"/>
                </a:solidFill>
                <a:latin typeface="Tahoma"/>
              </a:rPr>
              <a:t>فقط CR &lt; ۰٫۱ پذیرفته می‌شود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28416" y="3785616"/>
            <a:ext cx="914400" cy="16459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B5E20"/>
                </a:solidFill>
                <a:latin typeface="Tahoma"/>
              </a:rPr>
              <a:t>CR &lt; 0.1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82060" y="3008376"/>
            <a:ext cx="25400" cy="1097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29384" y="2386584"/>
            <a:ext cx="621792" cy="621792"/>
          </a:xfrm>
          <a:prstGeom prst="ellipse">
            <a:avLst/>
          </a:prstGeom>
          <a:solidFill>
            <a:srgbClr val="E3F2FD"/>
          </a:solidFill>
          <a:ln w="2286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984248" y="2441448"/>
            <a:ext cx="512064" cy="512064"/>
          </a:xfrm>
          <a:prstGeom prst="ellipse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Tahoma"/>
              </a:rPr>
              <a:t>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91056" y="1408176"/>
            <a:ext cx="12984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45920" y="1481328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2D343E"/>
                </a:solidFill>
                <a:latin typeface="Tahoma"/>
              </a:rPr>
              <a:t>میانگین هندسی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1755648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6B7280"/>
                </a:solidFill>
                <a:latin typeface="Tahoma"/>
              </a:rPr>
              <a:t>تجمیع نظرات پذیرفته‌شده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27580" y="2276856"/>
            <a:ext cx="25400" cy="109728"/>
          </a:xfrm>
          <a:prstGeom prst="rect">
            <a:avLst/>
          </a:prstGeom>
          <a:solidFill>
            <a:srgbClr val="2B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4904" y="2386584"/>
            <a:ext cx="621792" cy="621792"/>
          </a:xfrm>
          <a:prstGeom prst="ellipse">
            <a:avLst/>
          </a:prstGeom>
          <a:solidFill>
            <a:srgbClr val="E8F5E9"/>
          </a:solidFill>
          <a:ln w="317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29768" y="2441448"/>
            <a:ext cx="512064" cy="512064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ahoma"/>
              </a:rPr>
              <a:t>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" y="3118104"/>
            <a:ext cx="1298448" cy="868680"/>
          </a:xfrm>
          <a:prstGeom prst="roundRect">
            <a:avLst/>
          </a:prstGeom>
          <a:solidFill>
            <a:srgbClr val="1E3A5F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3191256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FFFFFF"/>
                </a:solidFill>
                <a:latin typeface="Tahoma"/>
              </a:rPr>
              <a:t>وزن نهایی معیارها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" y="3465576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50" b="0">
                <a:solidFill>
                  <a:srgbClr val="BBDEFB"/>
                </a:solidFill>
                <a:latin typeface="Tahoma"/>
              </a:rPr>
              <a:t>ماتریس تجمیع‌شده مبنای محاسبه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3100" y="3008376"/>
            <a:ext cx="25400" cy="10972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01000" y="3200400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1">
                <a:solidFill>
                  <a:srgbClr val="2B5C8A"/>
                </a:solidFill>
                <a:latin typeface="Tahoma"/>
              </a:rPr>
              <a:t>شروع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3200400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900" b="1">
                <a:solidFill>
                  <a:srgbClr val="1E3A5F"/>
                </a:solidFill>
                <a:latin typeface="Tahoma"/>
              </a:rPr>
              <a:t>پایان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60520"/>
            <a:ext cx="8321040" cy="658368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0">
                <a:solidFill>
                  <a:srgbClr val="2D343E"/>
                </a:solidFill>
                <a:latin typeface="Tahoma"/>
              </a:rPr>
              <a:t>مقیاس ساعتی AHP: ۱ = برابر  ·  ۳ = متوسط  ·  ۵ = قوی  ·  ۹ = مطلق</a:t>
            </a:r>
            <a:br/>
            <a:r>
              <a:t>آستانه پذیرش سازگاری: CR &lt; 0.1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681728"/>
            <a:ext cx="832104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Tahoma"/>
              </a:rPr>
              <a:t>AHP — Analytic Hierarchy Process  |  Saaty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