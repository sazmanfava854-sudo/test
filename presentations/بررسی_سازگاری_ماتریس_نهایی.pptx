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01100" y="731520"/>
            <a:ext cx="182880" cy="1828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01100" y="1463040"/>
            <a:ext cx="182880" cy="1828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91372" y="2130552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801100" y="2240280"/>
            <a:ext cx="182880" cy="1828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01100" y="3017520"/>
            <a:ext cx="182880" cy="1828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01100" y="3794760"/>
            <a:ext cx="182880" cy="1828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47472"/>
            <a:ext cx="8092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2400" b="1">
                <a:solidFill>
                  <a:srgbClr val="1E293B"/>
                </a:solidFill>
                <a:latin typeface="Tahoma"/>
              </a:rPr>
              <a:t>بررسی سازگاری ماتریس نهایی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804672"/>
            <a:ext cx="8092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1100" b="0">
                <a:solidFill>
                  <a:srgbClr val="64748B"/>
                </a:solidFill>
                <a:latin typeface="Tahoma"/>
              </a:rPr>
              <a:t>پس از محاسبه بردار وزن، سازگاری ماتریس تجمیع‌شده بررسی می‌شود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34440"/>
            <a:ext cx="5897880" cy="2606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71600"/>
            <a:ext cx="5532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1400" b="1">
                <a:solidFill>
                  <a:srgbClr val="1D4ED8"/>
                </a:solidFill>
                <a:latin typeface="Tahoma"/>
              </a:rPr>
              <a:t>زنجیره محاسبه</a:t>
            </a:r>
          </a:p>
        </p:txBody>
      </p:sp>
      <p:sp>
        <p:nvSpPr>
          <p:cNvPr id="14" name="Right Arrow 13"/>
          <p:cNvSpPr/>
          <p:nvPr/>
        </p:nvSpPr>
        <p:spPr>
          <a:xfrm rot="10800000">
            <a:off x="4361688" y="2281428"/>
            <a:ext cx="347472" cy="146304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 rot="10800000">
            <a:off x="2596896" y="2281428"/>
            <a:ext cx="347472" cy="146304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09160" y="1737360"/>
            <a:ext cx="1417320" cy="123444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82312" y="1847088"/>
            <a:ext cx="1271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Tahoma"/>
              </a:rPr>
              <a:t>λmax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2121408"/>
            <a:ext cx="12710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1000" b="1">
                <a:solidFill>
                  <a:srgbClr val="1E293B"/>
                </a:solidFill>
                <a:latin typeface="Tahoma"/>
              </a:rPr>
              <a:t>مقدار ویژه بیشینه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2395728"/>
            <a:ext cx="12710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850" b="0">
                <a:solidFill>
                  <a:srgbClr val="64748B"/>
                </a:solidFill>
                <a:latin typeface="Tahoma"/>
              </a:rPr>
              <a:t>از ماتریس تجمیع‌شده و بردار وزن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44368" y="1737360"/>
            <a:ext cx="1417320" cy="123444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1847088"/>
            <a:ext cx="1271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Tahoma"/>
              </a:rPr>
              <a:t>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2121408"/>
            <a:ext cx="12710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1000" b="1">
                <a:solidFill>
                  <a:srgbClr val="1E293B"/>
                </a:solidFill>
                <a:latin typeface="Tahoma"/>
              </a:rPr>
              <a:t>شاخص سازگاری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2395728"/>
            <a:ext cx="12710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850" b="0">
                <a:solidFill>
                  <a:srgbClr val="64748B"/>
                </a:solidFill>
                <a:latin typeface="Tahoma"/>
              </a:rPr>
              <a:t>CI = (λmax − n) / (n − 1)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9576" y="1737360"/>
            <a:ext cx="1417320" cy="123444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52728" y="1847088"/>
            <a:ext cx="127101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D4ED8"/>
                </a:solidFill>
                <a:latin typeface="Tahoma"/>
              </a:rPr>
              <a:t>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2121408"/>
            <a:ext cx="127101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1000" b="1">
                <a:solidFill>
                  <a:srgbClr val="1E293B"/>
                </a:solidFill>
                <a:latin typeface="Tahoma"/>
              </a:rPr>
              <a:t>نرخ سازگاری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" y="2395728"/>
            <a:ext cx="12710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850" b="0">
                <a:solidFill>
                  <a:srgbClr val="64748B"/>
                </a:solidFill>
                <a:latin typeface="Tahoma"/>
              </a:rPr>
              <a:t>CR = CI / RI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172968"/>
            <a:ext cx="1188720" cy="29260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a:rtl="1"/>
            <a:r>
              <a:rPr sz="900" b="1">
                <a:solidFill>
                  <a:srgbClr val="1D4ED8"/>
                </a:solidFill>
                <a:latin typeface="Tahoma"/>
              </a:rPr>
              <a:t>n = 8 معیار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3172968"/>
            <a:ext cx="1417320" cy="29260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a:rtl="1"/>
            <a:r>
              <a:rPr sz="900" b="1">
                <a:solidFill>
                  <a:srgbClr val="1D4ED8"/>
                </a:solidFill>
                <a:latin typeface="Tahoma"/>
              </a:rPr>
              <a:t>RI = 1.41 (جدول ساعتی)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557016"/>
            <a:ext cx="5440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900" b="0">
                <a:solidFill>
                  <a:srgbClr val="64748B"/>
                </a:solidFill>
                <a:latin typeface="Tahoma"/>
              </a:rPr>
              <a:t>مثال: CI = 0.05  →  CR = 0.05 / 1.41 ≈ 0.035  →  قابل قبول 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37960" y="1234440"/>
            <a:ext cx="2011680" cy="2606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137160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1400" b="1">
                <a:solidFill>
                  <a:srgbClr val="1D4ED8"/>
                </a:solidFill>
                <a:latin typeface="Tahoma"/>
              </a:rPr>
              <a:t>معیار پذیرش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1737360"/>
            <a:ext cx="1737360" cy="59436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1856232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ahoma"/>
              </a:rPr>
              <a:t>CR &lt; 0.1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2468880"/>
            <a:ext cx="1737360" cy="50292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9050">
            <a:solidFill>
              <a:srgbClr val="16A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2587752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1200" b="1">
                <a:solidFill>
                  <a:srgbClr val="15803D"/>
                </a:solidFill>
                <a:latin typeface="Tahoma"/>
              </a:rPr>
              <a:t>✓  قابل قبول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3063240"/>
            <a:ext cx="1737360" cy="50292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182112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1200" b="1">
                <a:solidFill>
                  <a:srgbClr val="DC2626"/>
                </a:solidFill>
                <a:latin typeface="Tahoma"/>
              </a:rPr>
              <a:t>✗  نیاز به بازنگری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70332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850" b="0">
                <a:solidFill>
                  <a:srgbClr val="64748B"/>
                </a:solidFill>
                <a:latin typeface="Tahoma"/>
              </a:rPr>
              <a:t>در صورت عدم سازگاری، مقایسه‌های زوجی بازبینی می‌شوند.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977639"/>
            <a:ext cx="8092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1000" b="1">
                <a:solidFill>
                  <a:srgbClr val="1E293B"/>
                </a:solidFill>
                <a:latin typeface="Tahoma"/>
              </a:rPr>
              <a:t>مقیاس نرخ سازگاری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251959"/>
            <a:ext cx="2832354" cy="16459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289554" y="4251959"/>
            <a:ext cx="5260086" cy="16459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70504" y="4215383"/>
            <a:ext cx="38100" cy="23774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453127"/>
            <a:ext cx="2832354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800" b="0">
                <a:solidFill>
                  <a:srgbClr val="15803D"/>
                </a:solidFill>
                <a:latin typeface="Tahoma"/>
              </a:rPr>
              <a:t>قابل قبول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89554" y="4453127"/>
            <a:ext cx="526008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a:rtl="1"/>
            <a:r>
              <a:rPr sz="800" b="0">
                <a:solidFill>
                  <a:srgbClr val="DC2626"/>
                </a:solidFill>
                <a:latin typeface="Tahoma"/>
              </a:rPr>
              <a:t>بازنگری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60954" y="4453127"/>
            <a:ext cx="457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D4ED8"/>
                </a:solidFill>
                <a:latin typeface="Tahoma"/>
              </a:rPr>
              <a:t>0.1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087367"/>
            <a:ext cx="2743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64748B"/>
                </a:solidFill>
                <a:latin typeface="Tahoma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462272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a:rtl="1"/>
            <a:r>
              <a:rPr sz="1100" b="1">
                <a:solidFill>
                  <a:srgbClr val="2563EB"/>
                </a:solidFill>
                <a:latin typeface="Tahoma"/>
              </a:rPr>
              <a:t>روش پیشنهادی</a:t>
            </a:r>
          </a:p>
        </p:txBody>
      </p:sp>
      <p:sp>
        <p:nvSpPr>
          <p:cNvPr id="49" name="Oval 48"/>
          <p:cNvSpPr/>
          <p:nvPr/>
        </p:nvSpPr>
        <p:spPr>
          <a:xfrm>
            <a:off x="2743200" y="448056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429000" y="448056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63240" y="4462272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E293B"/>
                </a:solidFill>
                <a:latin typeface="Tahoma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