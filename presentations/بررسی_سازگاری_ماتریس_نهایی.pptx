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051560"/>
            <a:ext cx="73152" cy="685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80467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3000" b="1">
                <a:solidFill>
                  <a:srgbClr val="1E3A5F"/>
                </a:solidFill>
                <a:latin typeface="Tahoma"/>
              </a:rPr>
              <a:t>بررسی سازگاری ماتریس نهایی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046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400" b="0">
                <a:solidFill>
                  <a:srgbClr val="6B7280"/>
                </a:solidFill>
                <a:latin typeface="Tahoma"/>
              </a:rPr>
              <a:t>پس از محاسبه بردار وزن، سازگاری ماتریس تجمیع‌شده بررسی می‌شود: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384048"/>
            <a:ext cx="868680" cy="384048"/>
          </a:xfrm>
          <a:prstGeom prst="round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ahoma"/>
              </a:rPr>
              <a:t>n = 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598931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tblBorders>
                  <a:bottom w="0" cap="flat" cmpd="sng" algn="ctr">
                    <a:noFill/>
                  </a:bottom>
                  <a:top w="0" cap="flat" cmpd="sng" algn="ctr">
                    <a:noFill/>
                  </a:top>
                  <a:left w="0" cap="flat" cmpd="sng" algn="ctr">
                    <a:noFill/>
                  </a:left>
                  <a:right w="0" cap="flat" cmpd="sng" algn="ctr">
                    <a:noFill/>
                  </a:right>
                  <a:insideH w="0" cap="flat" cmpd="sng" algn="ctr">
                    <a:noFill/>
                  </a:insideH>
                  <a:insideV w="0" cap="flat" cmpd="sng" algn="ctr">
                    <a:noFill/>
                  </a:insideV>
                </a:tblBorders>
              </a:tblPr>
              <a:tblGrid>
                <a:gridCol w="1874519"/>
                <a:gridCol w="1051560"/>
                <a:gridCol w="3063240"/>
              </a:tblGrid>
              <a:tr h="437605">
                <a:tc>
                  <a:txBody>
                    <a:bodyPr anchor="ctr"/>
                    <a:lstStyle/>
                    <a:p>
                      <a:pPr algn="ctr" a:rtl="1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شاخص</a:t>
                      </a:r>
                    </a:p>
                  </a:txBody>
                  <a:tcPr marL="76200" marR="76200" marT="50800" marB="50800">
                    <a:solidFill>
                      <a:srgbClr val="1E3A5F"/>
                    </a:solidFill>
                    <a:tcBdr>
                      <a:bottom w="19050" cap="flat" cmpd="sng" algn="ctr">
                        <a:solidFill>
                          <a:srgbClr val="2B5C8A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ctr" a:rtl="1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نماد</a:t>
                      </a:r>
                    </a:p>
                  </a:txBody>
                  <a:tcPr marL="76200" marR="76200" marT="50800" marB="50800">
                    <a:solidFill>
                      <a:srgbClr val="1E3A5F"/>
                    </a:solidFill>
                    <a:tcBdr>
                      <a:bottom w="19050" cap="flat" cmpd="sng" algn="ctr">
                        <a:solidFill>
                          <a:srgbClr val="2B5C8A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ctr" a:rtl="1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توضیح / فرمول</a:t>
                      </a:r>
                    </a:p>
                  </a:txBody>
                  <a:tcPr marL="76200" marR="76200" marT="50800" marB="50800">
                    <a:solidFill>
                      <a:srgbClr val="1E3A5F"/>
                    </a:solidFill>
                    <a:tcBdr>
                      <a:bottom w="19050" cap="flat" cmpd="sng" algn="ctr">
                        <a:solidFill>
                          <a:srgbClr val="2B5C8A"/>
                        </a:solidFill>
                      </a:bottom>
                    </a:tcBdr>
                  </a:tcPr>
                </a:tc>
              </a:tr>
              <a:tr h="437605"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تعداد معیارها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ctr" a:rtl="1"/>
                      <a:r>
                        <a:rPr sz="1200" b="1">
                          <a:solidFill>
                            <a:srgbClr val="2D343E"/>
                          </a:solidFill>
                          <a:latin typeface="Tahoma"/>
                        </a:rPr>
                        <a:t>8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تعداد معیارهای سطح اول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</a:tr>
              <a:tr h="437605"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مقدار ویژه بیشینه</a:t>
                      </a:r>
                    </a:p>
                  </a:txBody>
                  <a:tcPr marL="76200" marR="76200" marT="50800" marB="50800">
                    <a:solidFill>
                      <a:srgbClr val="F0F4F8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ctr" a:rtl="1"/>
                      <a:r>
                        <a:rPr sz="1200" b="1">
                          <a:solidFill>
                            <a:srgbClr val="2D343E"/>
                          </a:solidFill>
                          <a:latin typeface="Tahoma"/>
                        </a:rPr>
                        <a:t>λmax</a:t>
                      </a:r>
                    </a:p>
                  </a:txBody>
                  <a:tcPr marL="76200" marR="76200" marT="50800" marB="50800">
                    <a:solidFill>
                      <a:srgbClr val="F0F4F8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λmax = (1/n) × Σ (AW)i / wi</a:t>
                      </a:r>
                    </a:p>
                  </a:txBody>
                  <a:tcPr marL="76200" marR="76200" marT="50800" marB="50800">
                    <a:solidFill>
                      <a:srgbClr val="F0F4F8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</a:tr>
              <a:tr h="437605"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شاخص سازگاری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ctr" a:rtl="1"/>
                      <a:r>
                        <a:rPr sz="1200" b="1">
                          <a:solidFill>
                            <a:srgbClr val="2D343E"/>
                          </a:solidFill>
                          <a:latin typeface="Tahoma"/>
                        </a:rPr>
                        <a:t>CI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CI = (λmax − n) / (n − 1)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</a:tr>
              <a:tr h="437605"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شاخص تصادفی</a:t>
                      </a:r>
                    </a:p>
                  </a:txBody>
                  <a:tcPr marL="76200" marR="76200" marT="50800" marB="50800">
                    <a:solidFill>
                      <a:srgbClr val="F0F4F8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ctr" a:rtl="1"/>
                      <a:r>
                        <a:rPr sz="1200" b="1">
                          <a:solidFill>
                            <a:srgbClr val="2D343E"/>
                          </a:solidFill>
                          <a:latin typeface="Tahoma"/>
                        </a:rPr>
                        <a:t>RI</a:t>
                      </a:r>
                    </a:p>
                  </a:txBody>
                  <a:tcPr marL="76200" marR="76200" marT="50800" marB="50800">
                    <a:solidFill>
                      <a:srgbClr val="F0F4F8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طبق جدول ساعتی (Saaty)</a:t>
                      </a:r>
                    </a:p>
                  </a:txBody>
                  <a:tcPr marL="76200" marR="76200" marT="50800" marB="50800">
                    <a:solidFill>
                      <a:srgbClr val="F0F4F8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</a:tr>
              <a:tr h="437605"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1">
                          <a:solidFill>
                            <a:srgbClr val="2D343E"/>
                          </a:solidFill>
                          <a:latin typeface="Tahoma"/>
                        </a:rPr>
                        <a:t>نرخ سازگاری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ctr" a:rtl="1"/>
                      <a:r>
                        <a:rPr sz="1200" b="1">
                          <a:solidFill>
                            <a:srgbClr val="1E3A5F"/>
                          </a:solidFill>
                          <a:latin typeface="Tahoma"/>
                        </a:rPr>
                        <a:t>CR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2D343E"/>
                          </a:solidFill>
                          <a:latin typeface="Tahoma"/>
                        </a:rPr>
                        <a:t>CR = CI / RI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</a:tr>
              <a:tr h="437610"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1">
                          <a:solidFill>
                            <a:srgbClr val="1B5E20"/>
                          </a:solidFill>
                          <a:latin typeface="Tahoma"/>
                        </a:rPr>
                        <a:t>آستانه قابل قبول</a:t>
                      </a:r>
                    </a:p>
                  </a:txBody>
                  <a:tcPr marL="76200" marR="76200" marT="50800" marB="50800">
                    <a:solidFill>
                      <a:srgbClr val="E8F5E9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ctr" a:rtl="1"/>
                      <a:r>
                        <a:rPr sz="1200" b="1">
                          <a:solidFill>
                            <a:srgbClr val="2D343E"/>
                          </a:solidFill>
                          <a:latin typeface="Tahoma"/>
                        </a:rPr>
                        <a:t>—</a:t>
                      </a:r>
                    </a:p>
                  </a:txBody>
                  <a:tcPr marL="76200" marR="76200" marT="50800" marB="50800">
                    <a:solidFill>
                      <a:srgbClr val="E8F5E9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  <a:tc>
                  <a:txBody>
                    <a:bodyPr anchor="ctr"/>
                    <a:lstStyle/>
                    <a:p>
                      <a:pPr algn="r" a:rtl="1"/>
                      <a:r>
                        <a:rPr sz="1200" b="0">
                          <a:solidFill>
                            <a:srgbClr val="1B5E20"/>
                          </a:solidFill>
                          <a:latin typeface="Tahoma"/>
                        </a:rPr>
                        <a:t>کمتر از ۰٫۱</a:t>
                      </a:r>
                    </a:p>
                  </a:txBody>
                  <a:tcPr marL="76200" marR="76200" marT="50800" marB="50800">
                    <a:solidFill>
                      <a:srgbClr val="E8F5E9"/>
                    </a:solidFill>
                    <a:tcBdr>
                      <a:bottom w="12700" cap="flat" cmpd="sng" algn="ctr">
                        <a:solidFill>
                          <a:srgbClr val="D1D9E6"/>
                        </a:solidFill>
                      </a:bottom>
                    </a:tcBdr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20840" y="1417320"/>
            <a:ext cx="21488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600200"/>
            <a:ext cx="17830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500" b="1">
                <a:solidFill>
                  <a:srgbClr val="1E3A5F"/>
                </a:solidFill>
                <a:latin typeface="Tahoma"/>
              </a:rPr>
              <a:t>معیار پذیرش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057400"/>
            <a:ext cx="1783080" cy="8686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176272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B5E20"/>
                </a:solidFill>
                <a:latin typeface="Tahoma"/>
              </a:rPr>
              <a:t>CR &lt; 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48716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300" b="1">
                <a:solidFill>
                  <a:srgbClr val="2E7D32"/>
                </a:solidFill>
                <a:latin typeface="Tahoma"/>
              </a:rPr>
              <a:t>✓  قابل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063240"/>
            <a:ext cx="1783080" cy="86868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3182112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C62828"/>
                </a:solidFill>
                <a:latin typeface="Tahoma"/>
              </a:rPr>
              <a:t>CR ≥ 0.1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49300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300" b="1">
                <a:solidFill>
                  <a:srgbClr val="C62828"/>
                </a:solidFill>
                <a:latin typeface="Tahoma"/>
              </a:rPr>
              <a:t>✗  نیاز به بازنگری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069080"/>
            <a:ext cx="1783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0">
                <a:solidFill>
                  <a:srgbClr val="6B7280"/>
                </a:solidFill>
                <a:latin typeface="Tahoma"/>
              </a:rPr>
              <a:t>در صورت عدم سازگاری، مقایسه‌های زوجی بازبینی شوند.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17720"/>
            <a:ext cx="8366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Tahoma"/>
              </a:rPr>
              <a:t>روش تحلیل سلسله‌مراتبی (AHP) — Saaty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