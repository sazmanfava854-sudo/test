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2600" b="1">
                <a:solidFill>
                  <a:srgbClr val="1E3A5F"/>
                </a:solidFill>
                <a:latin typeface="Tahoma"/>
              </a:rPr>
              <a:t>چهار فاز اصلی سامانه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200" b="0">
                <a:solidFill>
                  <a:srgbClr val="6B7280"/>
                </a:solidFill>
                <a:latin typeface="Tahoma"/>
              </a:rPr>
              <a:t>از خوشه‌بندی تا رتبه‌بندی نهایی فناوری‌ها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7498080" cy="91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724912"/>
            <a:ext cx="7498080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7608" y="2743200"/>
            <a:ext cx="4748784" cy="91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2468880"/>
            <a:ext cx="640080" cy="640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0" y="2514600"/>
            <a:ext cx="548640" cy="548640"/>
          </a:xfrm>
          <a:prstGeom prst="ellipse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3780" y="1463040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5220" y="1572768"/>
            <a:ext cx="169163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2D343E"/>
                </a:solidFill>
                <a:latin typeface="Tahoma"/>
              </a:rPr>
              <a:t>خوشه‌بندی فناوری‌ها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5220" y="1865376"/>
            <a:ext cx="16916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6B7280"/>
                </a:solidFill>
                <a:latin typeface="Tahoma"/>
              </a:rPr>
              <a:t>گروه‌بندی بر اساس ویژگی‌های فنی و اقتصادی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05800" y="2331720"/>
            <a:ext cx="30480" cy="146304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3172968"/>
            <a:ext cx="8229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1">
                <a:solidFill>
                  <a:srgbClr val="2B5C8A"/>
                </a:solidFill>
                <a:latin typeface="Tahoma"/>
              </a:rPr>
              <a:t>شروع</a:t>
            </a:r>
          </a:p>
        </p:txBody>
      </p:sp>
      <p:sp>
        <p:nvSpPr>
          <p:cNvPr id="16" name="Oval 15"/>
          <p:cNvSpPr/>
          <p:nvPr/>
        </p:nvSpPr>
        <p:spPr>
          <a:xfrm>
            <a:off x="5501640" y="2468880"/>
            <a:ext cx="640080" cy="640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47360" y="2514600"/>
            <a:ext cx="548640" cy="548640"/>
          </a:xfrm>
          <a:prstGeom prst="ellipse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84420" y="3246120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5860" y="3355848"/>
            <a:ext cx="169163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2D343E"/>
                </a:solidFill>
                <a:latin typeface="Tahoma"/>
              </a:rPr>
              <a:t>محاسبه وزن پایه (AHP)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5860" y="3648456"/>
            <a:ext cx="16916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6B7280"/>
                </a:solidFill>
                <a:latin typeface="Tahoma"/>
              </a:rPr>
              <a:t>بردار وزن معیارها از قضاوت خبرگان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3099816"/>
            <a:ext cx="30480" cy="146304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02280" y="2468880"/>
            <a:ext cx="640080" cy="640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48000" y="2514600"/>
            <a:ext cx="548640" cy="54864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85060" y="1463040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6500" y="1572768"/>
            <a:ext cx="169163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2D343E"/>
                </a:solidFill>
                <a:latin typeface="Tahoma"/>
              </a:rPr>
              <a:t>تعدیل پویای وزن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76500" y="1865376"/>
            <a:ext cx="16916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6B7280"/>
                </a:solidFill>
                <a:latin typeface="Tahoma"/>
              </a:rPr>
              <a:t>تبدیل وزن پایه به وزن تطبیقی — نوآوری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22220" y="2057400"/>
            <a:ext cx="1600199" cy="201168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a:rtl="1"/>
            <a:r>
              <a:rPr sz="800" b="1">
                <a:solidFill>
                  <a:srgbClr val="2E7D32"/>
                </a:solidFill>
                <a:latin typeface="Tahoma"/>
              </a:rPr>
              <a:t>تعدیل نمایی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07080" y="2331720"/>
            <a:ext cx="30480" cy="14630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0840" y="2167128"/>
            <a:ext cx="8229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1">
                <a:solidFill>
                  <a:srgbClr val="009688"/>
                </a:solidFill>
                <a:latin typeface="Tahoma"/>
              </a:rPr>
              <a:t>نوآوری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" y="2468880"/>
            <a:ext cx="640080" cy="640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8640" y="2514600"/>
            <a:ext cx="548640" cy="54864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-114299" y="3246120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1E3A5F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-22859" y="3355848"/>
            <a:ext cx="169163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Tahoma"/>
              </a:rPr>
              <a:t>رتبه‌بندی (TOPSIS)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-22859" y="3648456"/>
            <a:ext cx="16916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BBDEFB"/>
                </a:solidFill>
                <a:latin typeface="Tahoma"/>
              </a:rPr>
              <a:t>انتخاب فناوری برتر در خوشه منتخب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7720" y="3099816"/>
            <a:ext cx="30480" cy="14630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172968"/>
            <a:ext cx="8229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1">
                <a:solidFill>
                  <a:srgbClr val="1E3A5F"/>
                </a:solidFill>
                <a:latin typeface="Tahoma"/>
              </a:rPr>
              <a:t>پایان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4160520"/>
            <a:ext cx="83210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7280" y="4370832"/>
            <a:ext cx="128016" cy="128016"/>
          </a:xfrm>
          <a:prstGeom prst="ellipse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4315968"/>
            <a:ext cx="20116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2D343E"/>
                </a:solidFill>
                <a:latin typeface="Tahoma"/>
              </a:rPr>
              <a:t>فاز پردازش</a:t>
            </a:r>
          </a:p>
        </p:txBody>
      </p:sp>
      <p:sp>
        <p:nvSpPr>
          <p:cNvPr id="40" name="Oval 39"/>
          <p:cNvSpPr/>
          <p:nvPr/>
        </p:nvSpPr>
        <p:spPr>
          <a:xfrm>
            <a:off x="3657600" y="4370832"/>
            <a:ext cx="128016" cy="128016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0" y="4315968"/>
            <a:ext cx="20116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2D343E"/>
                </a:solidFill>
                <a:latin typeface="Tahoma"/>
              </a:rPr>
              <a:t>فاز نوآورانه (تعدیل پویا)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4370832"/>
            <a:ext cx="128016" cy="128016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315968"/>
            <a:ext cx="20116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2D343E"/>
                </a:solidFill>
                <a:latin typeface="Tahoma"/>
              </a:rPr>
              <a:t>خروجی نهایی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681728"/>
            <a:ext cx="83210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 a:rtl="1"/>
            <a:r>
              <a:rPr sz="900" b="0">
                <a:solidFill>
                  <a:srgbClr val="6B7280"/>
                </a:solidFill>
                <a:latin typeface="Tahoma"/>
              </a:rPr>
              <a:t>روش پیشنهادی  |  AHP + تعدیل پویا + TOPSIS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