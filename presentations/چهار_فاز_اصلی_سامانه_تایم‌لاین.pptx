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2400" b="1">
                <a:solidFill>
                  <a:srgbClr val="1E293B"/>
                </a:solidFill>
                <a:latin typeface="Tahoma"/>
              </a:rPr>
              <a:t>چهار فاز اصلی سامانه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1100" b="0">
                <a:solidFill>
                  <a:srgbClr val="64748B"/>
                </a:solidFill>
                <a:latin typeface="Tahoma"/>
              </a:rPr>
              <a:t>خوشه‌بندی  →  AHP  →  تعدیل پویا  →  TOPSIS</a:t>
            </a:r>
          </a:p>
        </p:txBody>
      </p:sp>
      <p:sp>
        <p:nvSpPr>
          <p:cNvPr id="5" name="Right Arrow 4"/>
          <p:cNvSpPr/>
          <p:nvPr/>
        </p:nvSpPr>
        <p:spPr>
          <a:xfrm rot="10800000">
            <a:off x="6336793" y="2564892"/>
            <a:ext cx="384048" cy="128016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 rot="10800000">
            <a:off x="4078226" y="2564892"/>
            <a:ext cx="384048" cy="128016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 rot="10800000">
            <a:off x="1819659" y="2564892"/>
            <a:ext cx="384048" cy="128016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20841" y="192024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20356" y="1975104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563EB"/>
                </a:solidFill>
                <a:latin typeface="Tahoma"/>
              </a:rPr>
              <a:t>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1" y="2395728"/>
            <a:ext cx="169163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1200" b="1">
                <a:solidFill>
                  <a:srgbClr val="FFFFFF"/>
                </a:solidFill>
                <a:latin typeface="Tahoma"/>
              </a:rPr>
              <a:t>خوشه‌بندی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1" y="2670048"/>
            <a:ext cx="16916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850" b="0">
                <a:solidFill>
                  <a:srgbClr val="DBEAFE"/>
                </a:solidFill>
                <a:latin typeface="Tahoma"/>
              </a:rPr>
              <a:t>گروه‌بندی فناوری‌ها بر اساس ویژگی‌های فنی و اقتصادی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4" y="192024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61789" y="1975104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563EB"/>
                </a:solidFill>
                <a:latin typeface="Tahoma"/>
              </a:rPr>
              <a:t>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4" y="2395728"/>
            <a:ext cx="169163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1200" b="1">
                <a:solidFill>
                  <a:srgbClr val="FFFFFF"/>
                </a:solidFill>
                <a:latin typeface="Tahoma"/>
              </a:rPr>
              <a:t>وزن پایه AHP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4" y="2670048"/>
            <a:ext cx="16916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850" b="0">
                <a:solidFill>
                  <a:srgbClr val="DBEAFE"/>
                </a:solidFill>
                <a:latin typeface="Tahoma"/>
              </a:rPr>
              <a:t>محاسبه اهمیت نسبی معیارها از قضاوت خبرگان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67131" y="1883664"/>
            <a:ext cx="1947671" cy="1490472"/>
          </a:xfrm>
          <a:prstGeom prst="roundRect">
            <a:avLst>
              <a:gd name="adj" fmla="val 8000"/>
            </a:avLst>
          </a:prstGeom>
          <a:solidFill>
            <a:srgbClr val="F0FAF9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203707" y="192024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03222" y="1975104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9688"/>
                </a:solidFill>
                <a:latin typeface="Tahoma"/>
              </a:rPr>
              <a:t>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95147" y="2395728"/>
            <a:ext cx="169163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1200" b="1">
                <a:solidFill>
                  <a:srgbClr val="FFFFFF"/>
                </a:solidFill>
                <a:latin typeface="Tahoma"/>
              </a:rPr>
              <a:t>تعدیل پویا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95147" y="2670048"/>
            <a:ext cx="16916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850" b="0">
                <a:solidFill>
                  <a:srgbClr val="E0F2F1"/>
                </a:solidFill>
                <a:latin typeface="Tahoma"/>
              </a:rPr>
              <a:t>تبدیل وزن پایه به وزن تطبیقی با تابع نمایی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-54860" y="192024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5" y="1975104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D4ED8"/>
                </a:solidFill>
                <a:latin typeface="Tahoma"/>
              </a:rPr>
              <a:t>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80" y="2395728"/>
            <a:ext cx="169163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1200" b="1">
                <a:solidFill>
                  <a:srgbClr val="FFFFFF"/>
                </a:solidFill>
                <a:latin typeface="Tahoma"/>
              </a:rPr>
              <a:t>رتبه‌بندی TOPSIS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80" y="2670048"/>
            <a:ext cx="16916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850" b="0">
                <a:solidFill>
                  <a:srgbClr val="DBEAFE"/>
                </a:solidFill>
                <a:latin typeface="Tahoma"/>
              </a:rPr>
              <a:t>انتخاب فناوری برتر در خوشه منتخب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-54860" y="3657600"/>
            <a:ext cx="865022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1" y="3749040"/>
            <a:ext cx="187451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800" b="0">
                <a:solidFill>
                  <a:srgbClr val="64748B"/>
                </a:solidFill>
                <a:latin typeface="Tahoma"/>
              </a:rPr>
              <a:t>گردآوری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4" y="3749040"/>
            <a:ext cx="187451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800" b="0">
                <a:solidFill>
                  <a:srgbClr val="64748B"/>
                </a:solidFill>
                <a:latin typeface="Tahoma"/>
              </a:rPr>
              <a:t>تحلیل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03707" y="3749040"/>
            <a:ext cx="187451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800" b="0">
                <a:solidFill>
                  <a:srgbClr val="64748B"/>
                </a:solidFill>
                <a:latin typeface="Tahoma"/>
              </a:rPr>
              <a:t>نوآوری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-54860" y="3749040"/>
            <a:ext cx="187451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800" b="0">
                <a:solidFill>
                  <a:srgbClr val="64748B"/>
                </a:solidFill>
                <a:latin typeface="Tahoma"/>
              </a:rPr>
              <a:t>خروجی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