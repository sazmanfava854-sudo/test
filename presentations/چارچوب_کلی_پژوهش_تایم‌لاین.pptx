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4524" y="694944"/>
            <a:ext cx="256032" cy="204825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4524" y="694944"/>
            <a:ext cx="256032" cy="2048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Tahoma"/>
              </a:rPr>
              <a:t>📖</a:t>
            </a:r>
          </a:p>
        </p:txBody>
      </p:sp>
      <p:sp>
        <p:nvSpPr>
          <p:cNvPr id="6" name="Pentagon 5"/>
          <p:cNvSpPr/>
          <p:nvPr/>
        </p:nvSpPr>
        <p:spPr>
          <a:xfrm>
            <a:off x="8764524" y="1426464"/>
            <a:ext cx="256032" cy="256032"/>
          </a:xfrm>
          <a:prstGeom prst="homePlat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91372" y="213055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64524" y="220370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4524" y="220370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E293B"/>
                </a:solidFill>
                <a:latin typeface="Tahoma"/>
              </a:rPr>
              <a:t>💡</a:t>
            </a:r>
          </a:p>
        </p:txBody>
      </p:sp>
      <p:sp>
        <p:nvSpPr>
          <p:cNvPr id="10" name="Action Button: Document 9"/>
          <p:cNvSpPr/>
          <p:nvPr/>
        </p:nvSpPr>
        <p:spPr>
          <a:xfrm>
            <a:off x="8764524" y="2980944"/>
            <a:ext cx="256032" cy="256032"/>
          </a:xfrm>
          <a:prstGeom prst="actionButtonDocumen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Button: Home 10"/>
          <p:cNvSpPr/>
          <p:nvPr/>
        </p:nvSpPr>
        <p:spPr>
          <a:xfrm>
            <a:off x="8764524" y="3758184"/>
            <a:ext cx="256032" cy="256032"/>
          </a:xfrm>
          <a:prstGeom prst="actionButtonHom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2600" b="1">
                <a:solidFill>
                  <a:srgbClr val="1E293B"/>
                </a:solidFill>
                <a:latin typeface="Tahoma"/>
              </a:rPr>
              <a:t>چارچوب کلی پژوهش</a:t>
            </a:r>
          </a:p>
        </p:txBody>
      </p:sp>
      <p:sp>
        <p:nvSpPr>
          <p:cNvPr id="13" name="Right Arrow 12"/>
          <p:cNvSpPr/>
          <p:nvPr/>
        </p:nvSpPr>
        <p:spPr>
          <a:xfrm rot="10800000">
            <a:off x="6345936" y="2528316"/>
            <a:ext cx="420624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 rot="10800000">
            <a:off x="4507992" y="2528316"/>
            <a:ext cx="420624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0800000">
            <a:off x="2670048" y="2528316"/>
            <a:ext cx="420624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10800000">
            <a:off x="832104" y="2528316"/>
            <a:ext cx="420624" cy="201168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0" y="214884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2313432"/>
            <a:ext cx="127101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Tahoma"/>
              </a:rPr>
              <a:t>خوشه‌بندی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651760"/>
            <a:ext cx="12710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900" b="0">
                <a:solidFill>
                  <a:srgbClr val="DBEAFE"/>
                </a:solidFill>
                <a:latin typeface="Tahoma"/>
              </a:rPr>
              <a:t>گروه‌بندی فناوری‌های مشابه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28616" y="214884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2313432"/>
            <a:ext cx="127101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Tahoma"/>
              </a:rPr>
              <a:t>AHP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651760"/>
            <a:ext cx="12710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900" b="0">
                <a:solidFill>
                  <a:srgbClr val="DBEAFE"/>
                </a:solidFill>
                <a:latin typeface="Tahoma"/>
              </a:rPr>
              <a:t>تعیین اهمیت نسبی معیارها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90672" y="214884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3824" y="2313432"/>
            <a:ext cx="127101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Tahoma"/>
              </a:rPr>
              <a:t>تعدیل پویا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3824" y="2651760"/>
            <a:ext cx="12710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900" b="0">
                <a:solidFill>
                  <a:srgbClr val="DBEAFE"/>
                </a:solidFill>
                <a:latin typeface="Tahoma"/>
              </a:rPr>
              <a:t>تطبیق وزن‌ها با سناریوی پروژه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52728" y="2148840"/>
            <a:ext cx="1417320" cy="9601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2313432"/>
            <a:ext cx="127101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500" b="1">
                <a:solidFill>
                  <a:srgbClr val="FFFFFF"/>
                </a:solidFill>
                <a:latin typeface="Tahoma"/>
              </a:rPr>
              <a:t>TOPSIS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2651760"/>
            <a:ext cx="12710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900" b="0">
                <a:solidFill>
                  <a:srgbClr val="DBEAFE"/>
                </a:solidFill>
                <a:latin typeface="Tahoma"/>
              </a:rPr>
              <a:t>رتبه‌بندی نهایی در خوشه منتخب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-219456" y="2286000"/>
            <a:ext cx="1051560" cy="6858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-164592" y="2468880"/>
            <a:ext cx="9418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100" b="1">
                <a:solidFill>
                  <a:srgbClr val="FFFFFF"/>
                </a:solidFill>
                <a:latin typeface="Tahoma"/>
              </a:rPr>
              <a:t>فناوری منتخب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200" b="1">
                <a:solidFill>
                  <a:srgbClr val="2563EB"/>
                </a:solidFill>
                <a:latin typeface="Tahoma"/>
              </a:rPr>
              <a:t>روش پیشنهادی</a:t>
            </a:r>
          </a:p>
        </p:txBody>
      </p:sp>
      <p:sp>
        <p:nvSpPr>
          <p:cNvPr id="32" name="Oval 31"/>
          <p:cNvSpPr/>
          <p:nvPr/>
        </p:nvSpPr>
        <p:spPr>
          <a:xfrm>
            <a:off x="2743200" y="44622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4443984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Tahoma"/>
              </a:rPr>
              <a:t>15</a:t>
            </a:r>
          </a:p>
        </p:txBody>
      </p:sp>
      <p:sp>
        <p:nvSpPr>
          <p:cNvPr id="34" name="Oval 33"/>
          <p:cNvSpPr/>
          <p:nvPr/>
        </p:nvSpPr>
        <p:spPr>
          <a:xfrm>
            <a:off x="3429000" y="44622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